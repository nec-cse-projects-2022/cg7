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  <p:sldId id="268" r:id="rId13"/>
    <p:sldId id="269" r:id="rId14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2" d="100"/>
          <a:sy n="52" d="100"/>
        </p:scale>
        <p:origin x="850" y="6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14.11.2025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 dirty="0"/>
              <a:t>1.7.2013</a:t>
            </a:r>
          </a:p>
          <a:p>
            <a:endParaRPr lang="en-US" dirty="0"/>
          </a:p>
          <a:p>
            <a:r>
              <a:rPr lang="en-US" dirty="0"/>
              <a:t>1.7.2013</a:t>
            </a:r>
          </a:p>
          <a:p>
            <a:endParaRPr lang="en-US" dirty="0"/>
          </a:p>
          <a:p>
            <a:r>
              <a:rPr lang="en-US" dirty="0"/>
              <a:t>1.7.2013</a:t>
            </a:r>
          </a:p>
          <a:p>
            <a:endParaRPr lang="en-US" dirty="0"/>
          </a:p>
          <a:p>
            <a:r>
              <a:rPr lang="en-US" dirty="0"/>
              <a:t>1.7.2013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‹#›</a:t>
            </a:r>
          </a:p>
          <a:p>
            <a:endParaRPr lang="en-US" dirty="0"/>
          </a:p>
          <a:p>
            <a:r>
              <a:rPr lang="en-US" dirty="0"/>
              <a:t>‹#›</a:t>
            </a:r>
          </a:p>
          <a:p>
            <a:endParaRPr lang="en-US" dirty="0"/>
          </a:p>
          <a:p>
            <a:r>
              <a:rPr lang="en-US" dirty="0"/>
              <a:t>‹#›</a:t>
            </a:r>
          </a:p>
          <a:p>
            <a:endParaRPr lang="en-US" dirty="0"/>
          </a:p>
          <a:p>
            <a:r>
              <a:rPr lang="en-US" dirty="0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 dirty="0"/>
              <a:t>1.7.2013</a:t>
            </a:r>
          </a:p>
          <a:p>
            <a:endParaRPr lang="en-US" dirty="0"/>
          </a:p>
          <a:p>
            <a:r>
              <a:rPr lang="en-US" dirty="0"/>
              <a:t>1.7.2013</a:t>
            </a:r>
          </a:p>
          <a:p>
            <a:endParaRPr lang="en-US" dirty="0"/>
          </a:p>
          <a:p>
            <a:r>
              <a:rPr lang="en-US" dirty="0"/>
              <a:t>1.7.2013</a:t>
            </a:r>
          </a:p>
          <a:p>
            <a:endParaRPr lang="en-US" dirty="0"/>
          </a:p>
          <a:p>
            <a:r>
              <a:rPr lang="en-US" dirty="0"/>
              <a:t>1.7.2013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‹#›</a:t>
            </a:r>
          </a:p>
          <a:p>
            <a:endParaRPr lang="en-US" dirty="0"/>
          </a:p>
          <a:p>
            <a:r>
              <a:rPr lang="en-US" dirty="0"/>
              <a:t>‹#›</a:t>
            </a:r>
          </a:p>
          <a:p>
            <a:endParaRPr lang="en-US" dirty="0"/>
          </a:p>
          <a:p>
            <a:r>
              <a:rPr lang="en-US" dirty="0"/>
              <a:t>‹#›</a:t>
            </a:r>
          </a:p>
          <a:p>
            <a:endParaRPr lang="en-US" dirty="0"/>
          </a:p>
          <a:p>
            <a:r>
              <a:rPr lang="en-US" dirty="0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" y="0"/>
            <a:ext cx="18288000" cy="2367724"/>
            <a:chOff x="1219199" y="-1"/>
            <a:chExt cx="24384000" cy="3156966"/>
          </a:xfrm>
        </p:grpSpPr>
        <p:sp>
          <p:nvSpPr>
            <p:cNvPr id="3" name="Freeform 3"/>
            <p:cNvSpPr/>
            <p:nvPr/>
          </p:nvSpPr>
          <p:spPr>
            <a:xfrm>
              <a:off x="1219199" y="-1"/>
              <a:ext cx="24384000" cy="3156966"/>
            </a:xfrm>
            <a:custGeom>
              <a:avLst/>
              <a:gdLst/>
              <a:ahLst/>
              <a:cxnLst/>
              <a:rect l="l" t="t" r="r" b="b"/>
              <a:pathLst>
                <a:path w="24384000" h="3156966">
                  <a:moveTo>
                    <a:pt x="0" y="0"/>
                  </a:moveTo>
                  <a:lnTo>
                    <a:pt x="24384000" y="0"/>
                  </a:lnTo>
                  <a:lnTo>
                    <a:pt x="24384000" y="3156966"/>
                  </a:lnTo>
                  <a:lnTo>
                    <a:pt x="0" y="31569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5232" b="-5232"/>
              </a:stretch>
            </a:blipFill>
          </p:spPr>
          <p:txBody>
            <a:bodyPr/>
            <a:lstStyle/>
            <a:p>
              <a:endParaRPr lang="en-IN" dirty="0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" y="8863030"/>
            <a:ext cx="18288000" cy="1523524"/>
            <a:chOff x="0" y="0"/>
            <a:chExt cx="24384000" cy="203136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2031365"/>
            </a:xfrm>
            <a:custGeom>
              <a:avLst/>
              <a:gdLst/>
              <a:ahLst/>
              <a:cxnLst/>
              <a:rect l="l" t="t" r="r" b="b"/>
              <a:pathLst>
                <a:path w="24384000" h="2031365">
                  <a:moveTo>
                    <a:pt x="0" y="0"/>
                  </a:moveTo>
                  <a:lnTo>
                    <a:pt x="24384000" y="0"/>
                  </a:lnTo>
                  <a:lnTo>
                    <a:pt x="24384000" y="2031365"/>
                  </a:lnTo>
                  <a:lnTo>
                    <a:pt x="0" y="20313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4460" b="-14460"/>
              </a:stretch>
            </a:blipFill>
          </p:spPr>
          <p:txBody>
            <a:bodyPr/>
            <a:lstStyle/>
            <a:p>
              <a:endParaRPr lang="en-IN" dirty="0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6AB13B83-956F-3B47-EB27-708331646890}"/>
              </a:ext>
            </a:extLst>
          </p:cNvPr>
          <p:cNvSpPr txBox="1"/>
          <p:nvPr/>
        </p:nvSpPr>
        <p:spPr>
          <a:xfrm>
            <a:off x="4254796" y="1977171"/>
            <a:ext cx="10609520" cy="120032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3600" b="1" dirty="0"/>
              <a:t>Echoes of the Hidden Filter: Interpretable Ensemble                Intelligence for Early CKD Prognosis</a:t>
            </a:r>
            <a:endParaRPr lang="en-IN" sz="3600" b="1" dirty="0">
              <a:latin typeface="Times New Roman"/>
              <a:cs typeface="Times New Roman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F6404E3-2279-A453-F04B-189DEC71AE20}"/>
              </a:ext>
            </a:extLst>
          </p:cNvPr>
          <p:cNvSpPr txBox="1"/>
          <p:nvPr/>
        </p:nvSpPr>
        <p:spPr>
          <a:xfrm>
            <a:off x="6172200" y="1601025"/>
            <a:ext cx="9067800" cy="4616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IN" sz="2400" b="1" dirty="0">
                <a:latin typeface="Times New Roman"/>
                <a:cs typeface="Times New Roman"/>
              </a:rPr>
              <a:t>               CMT Paper ID:</a:t>
            </a:r>
            <a:r>
              <a:rPr lang="en-IN" sz="2400" dirty="0">
                <a:latin typeface="Times New Roman"/>
                <a:cs typeface="Times New Roman"/>
              </a:rPr>
              <a:t> </a:t>
            </a:r>
            <a:r>
              <a:rPr lang="en-IN" sz="2400" i="1" dirty="0">
                <a:latin typeface="Times New Roman"/>
                <a:cs typeface="Times New Roman"/>
              </a:rPr>
              <a:t>133</a:t>
            </a:r>
            <a:endParaRPr lang="en-IN" sz="2400" dirty="0">
              <a:latin typeface="Times New Roman"/>
              <a:cs typeface="Times New Roman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61EBE9C-0BFD-1DA5-9C32-6471C5E5493D}"/>
              </a:ext>
            </a:extLst>
          </p:cNvPr>
          <p:cNvSpPr txBox="1"/>
          <p:nvPr/>
        </p:nvSpPr>
        <p:spPr>
          <a:xfrm>
            <a:off x="1461977" y="3467100"/>
            <a:ext cx="4437377" cy="38164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200" b="1" dirty="0">
                <a:latin typeface="Times New Roman"/>
                <a:cs typeface="Times New Roman"/>
              </a:rPr>
              <a:t>Authors Name </a:t>
            </a:r>
          </a:p>
          <a:p>
            <a:r>
              <a:rPr lang="en-US" dirty="0"/>
              <a:t>1.</a:t>
            </a:r>
            <a:r>
              <a:rPr lang="en-IN" dirty="0"/>
              <a:t> Dodda Venkata Reddy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/>
              <a:t>2. </a:t>
            </a:r>
            <a:r>
              <a:rPr lang="en-IN" dirty="0"/>
              <a:t>Sura Venkata Siva Naga Lakshmi</a:t>
            </a:r>
          </a:p>
          <a:p>
            <a:r>
              <a:rPr lang="en-US" dirty="0"/>
              <a:t>3. </a:t>
            </a:r>
            <a:r>
              <a:rPr lang="en-IN" dirty="0"/>
              <a:t>Kolli Kaveri</a:t>
            </a:r>
            <a:endParaRPr lang="en-US" dirty="0">
              <a:ea typeface="+mn-lt"/>
              <a:cs typeface="+mn-lt"/>
            </a:endParaRPr>
          </a:p>
          <a:p>
            <a:r>
              <a:rPr lang="en-US" dirty="0"/>
              <a:t>4. </a:t>
            </a:r>
            <a:r>
              <a:rPr lang="en-IN" dirty="0"/>
              <a:t>Konda Pratyusha</a:t>
            </a:r>
          </a:p>
          <a:p>
            <a:r>
              <a:rPr lang="en-US" dirty="0"/>
              <a:t>5. </a:t>
            </a:r>
            <a:r>
              <a:rPr lang="en-IN" dirty="0"/>
              <a:t>V. Jyothi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/>
              <a:t>6. </a:t>
            </a:r>
            <a:r>
              <a:rPr lang="en-IN" dirty="0"/>
              <a:t>Tummati Swapna</a:t>
            </a:r>
          </a:p>
          <a:p>
            <a:r>
              <a:rPr lang="en-US" sz="2200" b="1" dirty="0">
                <a:latin typeface="Times New Roman"/>
                <a:cs typeface="Times New Roman"/>
              </a:rPr>
              <a:t>Affiliation</a:t>
            </a:r>
            <a:r>
              <a:rPr lang="en-US" dirty="0"/>
              <a:t> </a:t>
            </a:r>
          </a:p>
          <a:p>
            <a:r>
              <a:rPr lang="en-US" dirty="0"/>
              <a:t>Dept. of Computer Science and Engineering, </a:t>
            </a:r>
          </a:p>
          <a:p>
            <a:r>
              <a:rPr lang="en-US" dirty="0"/>
              <a:t>Narasaraopeta Engineering College (1,2,3,4)</a:t>
            </a:r>
          </a:p>
          <a:p>
            <a:r>
              <a:rPr lang="en-US" dirty="0"/>
              <a:t>GRIET (5)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/>
              <a:t>G.Narayanamma Institute of Technology Science (for women)(6)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7AD9CB8-8B6F-3241-7B1F-9723D817B6B1}"/>
              </a:ext>
            </a:extLst>
          </p:cNvPr>
          <p:cNvSpPr txBox="1"/>
          <p:nvPr/>
        </p:nvSpPr>
        <p:spPr>
          <a:xfrm>
            <a:off x="11658602" y="3418172"/>
            <a:ext cx="556259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 </a:t>
            </a:r>
          </a:p>
          <a:p>
            <a:r>
              <a:rPr lang="en-IN" sz="2000" dirty="0"/>
              <a:t>Sura Venkata Siva Naga Lakshmi</a:t>
            </a:r>
          </a:p>
          <a:p>
            <a:r>
              <a:rPr lang="en-IN" sz="2000" dirty="0"/>
              <a:t>Department of Computer Science and Engineering</a:t>
            </a:r>
          </a:p>
          <a:p>
            <a:r>
              <a:rPr lang="en-IN" sz="2000" dirty="0"/>
              <a:t>Narasaraopeta Engineering College</a:t>
            </a:r>
          </a:p>
          <a:p>
            <a:r>
              <a:rPr lang="en-IN" sz="2000" dirty="0"/>
              <a:t>Narasaraopet,India</a:t>
            </a:r>
          </a:p>
          <a:p>
            <a:endParaRPr lang="en-IN" sz="2000" dirty="0"/>
          </a:p>
          <a:p>
            <a:endParaRPr lang="en-US" sz="2000" dirty="0">
              <a:ea typeface="+mn-lt"/>
              <a:cs typeface="+mn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" y="8863030"/>
            <a:ext cx="18288000" cy="1523524"/>
            <a:chOff x="0" y="0"/>
            <a:chExt cx="24384000" cy="203136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2031365"/>
            </a:xfrm>
            <a:custGeom>
              <a:avLst/>
              <a:gdLst/>
              <a:ahLst/>
              <a:cxnLst/>
              <a:rect l="l" t="t" r="r" b="b"/>
              <a:pathLst>
                <a:path w="24384000" h="2031365">
                  <a:moveTo>
                    <a:pt x="0" y="0"/>
                  </a:moveTo>
                  <a:lnTo>
                    <a:pt x="24384000" y="0"/>
                  </a:lnTo>
                  <a:lnTo>
                    <a:pt x="24384000" y="2031365"/>
                  </a:lnTo>
                  <a:lnTo>
                    <a:pt x="0" y="20313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4460" b="-14460"/>
              </a:stretch>
            </a:blipFill>
          </p:spPr>
          <p:txBody>
            <a:bodyPr/>
            <a:lstStyle/>
            <a:p>
              <a:endParaRPr lang="en-IN" dirty="0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" y="1"/>
            <a:ext cx="18288000" cy="2367724"/>
            <a:chOff x="0" y="0"/>
            <a:chExt cx="24384000" cy="315696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3156966"/>
            </a:xfrm>
            <a:custGeom>
              <a:avLst/>
              <a:gdLst/>
              <a:ahLst/>
              <a:cxnLst/>
              <a:rect l="l" t="t" r="r" b="b"/>
              <a:pathLst>
                <a:path w="24384000" h="3156966">
                  <a:moveTo>
                    <a:pt x="0" y="0"/>
                  </a:moveTo>
                  <a:lnTo>
                    <a:pt x="24384000" y="0"/>
                  </a:lnTo>
                  <a:lnTo>
                    <a:pt x="24384000" y="3156966"/>
                  </a:lnTo>
                  <a:lnTo>
                    <a:pt x="0" y="31569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5232" b="-5232"/>
              </a:stretch>
            </a:blipFill>
          </p:spPr>
          <p:txBody>
            <a:bodyPr/>
            <a:lstStyle/>
            <a:p>
              <a:endParaRPr lang="en-IN" dirty="0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3908F901-D551-E680-4635-D9D6FD773EC7}"/>
              </a:ext>
            </a:extLst>
          </p:cNvPr>
          <p:cNvSpPr txBox="1"/>
          <p:nvPr/>
        </p:nvSpPr>
        <p:spPr>
          <a:xfrm>
            <a:off x="2502195" y="2886063"/>
            <a:ext cx="11213805" cy="34163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IN" sz="2400" dirty="0">
                <a:latin typeface="Times New Roman"/>
                <a:cs typeface="Times New Roman"/>
              </a:rPr>
              <a:t>Content</a:t>
            </a:r>
          </a:p>
          <a:p>
            <a:r>
              <a:rPr lang="en-IN" sz="2400" dirty="0">
                <a:latin typeface="Times New Roman"/>
                <a:cs typeface="Times New Roman"/>
              </a:rPr>
              <a:t> ❖Introduction</a:t>
            </a:r>
            <a:endParaRPr lang="en-IN" sz="2400" dirty="0">
              <a:latin typeface="Times New Roman"/>
              <a:ea typeface="Calibri"/>
              <a:cs typeface="Times New Roman"/>
            </a:endParaRPr>
          </a:p>
          <a:p>
            <a:r>
              <a:rPr lang="en-IN" sz="2400" dirty="0">
                <a:latin typeface="Times New Roman"/>
                <a:cs typeface="Times New Roman"/>
              </a:rPr>
              <a:t> ❖Problem Statement</a:t>
            </a:r>
          </a:p>
          <a:p>
            <a:r>
              <a:rPr lang="en-IN" sz="2400" dirty="0">
                <a:latin typeface="Times New Roman"/>
                <a:cs typeface="Times New Roman"/>
              </a:rPr>
              <a:t> ❖Objectives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400" dirty="0">
                <a:latin typeface="Times New Roman"/>
                <a:cs typeface="Times New Roman"/>
              </a:rPr>
              <a:t>Literature Review</a:t>
            </a:r>
          </a:p>
          <a:p>
            <a:r>
              <a:rPr lang="en-IN" sz="2400" dirty="0">
                <a:latin typeface="Times New Roman"/>
                <a:cs typeface="Times New Roman"/>
              </a:rPr>
              <a:t> ❖Methodology</a:t>
            </a:r>
          </a:p>
          <a:p>
            <a:r>
              <a:rPr lang="en-IN" sz="2400" dirty="0">
                <a:latin typeface="Times New Roman"/>
                <a:cs typeface="Times New Roman"/>
              </a:rPr>
              <a:t> ❖Result &amp; Discussion </a:t>
            </a:r>
          </a:p>
          <a:p>
            <a:r>
              <a:rPr lang="en-IN" sz="2400" dirty="0">
                <a:latin typeface="Times New Roman"/>
                <a:cs typeface="Times New Roman"/>
              </a:rPr>
              <a:t>❖Conclusion &amp; Future Scope</a:t>
            </a:r>
          </a:p>
          <a:p>
            <a:r>
              <a:rPr lang="en-IN" sz="2400" dirty="0">
                <a:latin typeface="Times New Roman"/>
                <a:cs typeface="Times New Roman"/>
              </a:rPr>
              <a:t> ❖References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4">
            <a:extLst>
              <a:ext uri="{FF2B5EF4-FFF2-40B4-BE49-F238E27FC236}">
                <a16:creationId xmlns:a16="http://schemas.microsoft.com/office/drawing/2014/main" id="{4647E45C-F1CD-8AB8-9957-B7DBCCACFA03}"/>
              </a:ext>
            </a:extLst>
          </p:cNvPr>
          <p:cNvGrpSpPr/>
          <p:nvPr/>
        </p:nvGrpSpPr>
        <p:grpSpPr>
          <a:xfrm>
            <a:off x="1" y="1"/>
            <a:ext cx="18288000" cy="2367724"/>
            <a:chOff x="0" y="0"/>
            <a:chExt cx="24384000" cy="3156966"/>
          </a:xfrm>
        </p:grpSpPr>
        <p:sp>
          <p:nvSpPr>
            <p:cNvPr id="3" name="Freeform 5">
              <a:extLst>
                <a:ext uri="{FF2B5EF4-FFF2-40B4-BE49-F238E27FC236}">
                  <a16:creationId xmlns:a16="http://schemas.microsoft.com/office/drawing/2014/main" id="{47C010D4-627D-CA27-185E-14954FB2F1ED}"/>
                </a:ext>
              </a:extLst>
            </p:cNvPr>
            <p:cNvSpPr/>
            <p:nvPr/>
          </p:nvSpPr>
          <p:spPr>
            <a:xfrm>
              <a:off x="0" y="0"/>
              <a:ext cx="24384000" cy="3156966"/>
            </a:xfrm>
            <a:custGeom>
              <a:avLst/>
              <a:gdLst/>
              <a:ahLst/>
              <a:cxnLst/>
              <a:rect l="l" t="t" r="r" b="b"/>
              <a:pathLst>
                <a:path w="24384000" h="3156966">
                  <a:moveTo>
                    <a:pt x="0" y="0"/>
                  </a:moveTo>
                  <a:lnTo>
                    <a:pt x="24384000" y="0"/>
                  </a:lnTo>
                  <a:lnTo>
                    <a:pt x="24384000" y="3156966"/>
                  </a:lnTo>
                  <a:lnTo>
                    <a:pt x="0" y="31569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5232" b="-5232"/>
              </a:stretch>
            </a:blipFill>
          </p:spPr>
          <p:txBody>
            <a:bodyPr/>
            <a:lstStyle/>
            <a:p>
              <a:endParaRPr lang="en-IN" dirty="0"/>
            </a:p>
          </p:txBody>
        </p:sp>
      </p:grpSp>
      <p:grpSp>
        <p:nvGrpSpPr>
          <p:cNvPr id="4" name="Group 2">
            <a:extLst>
              <a:ext uri="{FF2B5EF4-FFF2-40B4-BE49-F238E27FC236}">
                <a16:creationId xmlns:a16="http://schemas.microsoft.com/office/drawing/2014/main" id="{848E0A1D-6337-9BA1-5038-7B939E106F32}"/>
              </a:ext>
            </a:extLst>
          </p:cNvPr>
          <p:cNvGrpSpPr/>
          <p:nvPr/>
        </p:nvGrpSpPr>
        <p:grpSpPr>
          <a:xfrm>
            <a:off x="1" y="8863030"/>
            <a:ext cx="18288000" cy="1523524"/>
            <a:chOff x="0" y="0"/>
            <a:chExt cx="24384000" cy="2031365"/>
          </a:xfrm>
        </p:grpSpPr>
        <p:sp>
          <p:nvSpPr>
            <p:cNvPr id="5" name="Freeform 3">
              <a:extLst>
                <a:ext uri="{FF2B5EF4-FFF2-40B4-BE49-F238E27FC236}">
                  <a16:creationId xmlns:a16="http://schemas.microsoft.com/office/drawing/2014/main" id="{6018E420-4EB5-58B8-B700-67F8DA732836}"/>
                </a:ext>
              </a:extLst>
            </p:cNvPr>
            <p:cNvSpPr/>
            <p:nvPr/>
          </p:nvSpPr>
          <p:spPr>
            <a:xfrm>
              <a:off x="0" y="0"/>
              <a:ext cx="24384000" cy="2031365"/>
            </a:xfrm>
            <a:custGeom>
              <a:avLst/>
              <a:gdLst/>
              <a:ahLst/>
              <a:cxnLst/>
              <a:rect l="l" t="t" r="r" b="b"/>
              <a:pathLst>
                <a:path w="24384000" h="2031365">
                  <a:moveTo>
                    <a:pt x="0" y="0"/>
                  </a:moveTo>
                  <a:lnTo>
                    <a:pt x="24384000" y="0"/>
                  </a:lnTo>
                  <a:lnTo>
                    <a:pt x="24384000" y="2031365"/>
                  </a:lnTo>
                  <a:lnTo>
                    <a:pt x="0" y="20313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4460" b="-14460"/>
              </a:stretch>
            </a:blipFill>
          </p:spPr>
          <p:txBody>
            <a:bodyPr/>
            <a:lstStyle/>
            <a:p>
              <a:endParaRPr lang="en-IN" dirty="0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66A0F901-B708-741F-BC2D-A91D0B1A37D4}"/>
              </a:ext>
            </a:extLst>
          </p:cNvPr>
          <p:cNvSpPr txBox="1"/>
          <p:nvPr/>
        </p:nvSpPr>
        <p:spPr>
          <a:xfrm>
            <a:off x="1447800" y="2552700"/>
            <a:ext cx="12268200" cy="4862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Introduction: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Chronic Kidney Disease (CKD) is a major global health issue that often remains undetected in its early stages.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diagnostic methods detect CKD only after significant kidney damage, limiting early treatment.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uses machine learning models like Random Forest, XGBoost, SVM, and ANN for accurate early prediction.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 techniques like imputation and SMOTE are applied to handle missing values and class imbalance.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Explainable AI tools (SHAP &amp; LIME) are integrated to make predictions transparent and clinically trustworthy.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954792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3CAA3AA9-150D-5B6A-6000-7FAC87A1FF3D}"/>
              </a:ext>
            </a:extLst>
          </p:cNvPr>
          <p:cNvGrpSpPr/>
          <p:nvPr/>
        </p:nvGrpSpPr>
        <p:grpSpPr>
          <a:xfrm>
            <a:off x="1" y="8863030"/>
            <a:ext cx="18288000" cy="1523524"/>
            <a:chOff x="0" y="0"/>
            <a:chExt cx="24384000" cy="203136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111B54E0-4D80-931C-CF08-983AA24D10F3}"/>
                </a:ext>
              </a:extLst>
            </p:cNvPr>
            <p:cNvSpPr/>
            <p:nvPr/>
          </p:nvSpPr>
          <p:spPr>
            <a:xfrm>
              <a:off x="0" y="0"/>
              <a:ext cx="24384000" cy="2031365"/>
            </a:xfrm>
            <a:custGeom>
              <a:avLst/>
              <a:gdLst/>
              <a:ahLst/>
              <a:cxnLst/>
              <a:rect l="l" t="t" r="r" b="b"/>
              <a:pathLst>
                <a:path w="24384000" h="2031365">
                  <a:moveTo>
                    <a:pt x="0" y="0"/>
                  </a:moveTo>
                  <a:lnTo>
                    <a:pt x="24384000" y="0"/>
                  </a:lnTo>
                  <a:lnTo>
                    <a:pt x="24384000" y="2031365"/>
                  </a:lnTo>
                  <a:lnTo>
                    <a:pt x="0" y="20313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14460" b="-14460"/>
              </a:stretch>
            </a:blipFill>
          </p:spPr>
          <p:txBody>
            <a:bodyPr/>
            <a:lstStyle/>
            <a:p>
              <a:endParaRPr lang="en-IN" dirty="0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C4A8DD3A-364A-76C9-30BB-60C94F83B940}"/>
              </a:ext>
            </a:extLst>
          </p:cNvPr>
          <p:cNvGrpSpPr/>
          <p:nvPr/>
        </p:nvGrpSpPr>
        <p:grpSpPr>
          <a:xfrm>
            <a:off x="1" y="1"/>
            <a:ext cx="18288000" cy="2367724"/>
            <a:chOff x="0" y="0"/>
            <a:chExt cx="24384000" cy="3156966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1B8ED2C8-CBFA-8788-C605-598605C3D68A}"/>
                </a:ext>
              </a:extLst>
            </p:cNvPr>
            <p:cNvSpPr/>
            <p:nvPr/>
          </p:nvSpPr>
          <p:spPr>
            <a:xfrm>
              <a:off x="0" y="0"/>
              <a:ext cx="24384000" cy="3156966"/>
            </a:xfrm>
            <a:custGeom>
              <a:avLst/>
              <a:gdLst/>
              <a:ahLst/>
              <a:cxnLst/>
              <a:rect l="l" t="t" r="r" b="b"/>
              <a:pathLst>
                <a:path w="24384000" h="3156966">
                  <a:moveTo>
                    <a:pt x="0" y="0"/>
                  </a:moveTo>
                  <a:lnTo>
                    <a:pt x="24384000" y="0"/>
                  </a:lnTo>
                  <a:lnTo>
                    <a:pt x="24384000" y="3156966"/>
                  </a:lnTo>
                  <a:lnTo>
                    <a:pt x="0" y="31569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5232" b="-5232"/>
              </a:stretch>
            </a:blipFill>
          </p:spPr>
          <p:txBody>
            <a:bodyPr/>
            <a:lstStyle/>
            <a:p>
              <a:endParaRPr lang="en-IN" dirty="0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D3A07438-20A4-F332-2A37-237AA932FAD1}"/>
              </a:ext>
            </a:extLst>
          </p:cNvPr>
          <p:cNvSpPr txBox="1"/>
          <p:nvPr/>
        </p:nvSpPr>
        <p:spPr>
          <a:xfrm>
            <a:off x="1188720" y="2796540"/>
            <a:ext cx="12420600" cy="384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Statement:</a:t>
            </a:r>
          </a:p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Early detection of Chronic Kidney Disease (CKD) is difficult because symptoms appear only in advanced stages.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diagnostic methods like serum creatinine and eGFR detect CKD after major kidney damage.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machine learning models lack interpretability, making them less trusted by clinicians.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Imbalanced and incomplete clinical data reduce prediction accuracy and model reliability.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need for an accurate, interpretable, and scalable AI-based system for early CKD prediction.</a:t>
            </a:r>
          </a:p>
        </p:txBody>
      </p:sp>
    </p:spTree>
    <p:extLst>
      <p:ext uri="{BB962C8B-B14F-4D97-AF65-F5344CB8AC3E}">
        <p14:creationId xmlns:p14="http://schemas.microsoft.com/office/powerpoint/2010/main" val="32491811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8F19593B-5DAA-3D0D-03FA-92645CFA99FD}"/>
              </a:ext>
            </a:extLst>
          </p:cNvPr>
          <p:cNvGrpSpPr/>
          <p:nvPr/>
        </p:nvGrpSpPr>
        <p:grpSpPr>
          <a:xfrm>
            <a:off x="1" y="8863030"/>
            <a:ext cx="18288000" cy="1523524"/>
            <a:chOff x="0" y="0"/>
            <a:chExt cx="24384000" cy="203136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5A71197A-7237-11B9-4873-8C88EB8A8A57}"/>
                </a:ext>
              </a:extLst>
            </p:cNvPr>
            <p:cNvSpPr/>
            <p:nvPr/>
          </p:nvSpPr>
          <p:spPr>
            <a:xfrm>
              <a:off x="0" y="0"/>
              <a:ext cx="24384000" cy="2031365"/>
            </a:xfrm>
            <a:custGeom>
              <a:avLst/>
              <a:gdLst/>
              <a:ahLst/>
              <a:cxnLst/>
              <a:rect l="l" t="t" r="r" b="b"/>
              <a:pathLst>
                <a:path w="24384000" h="2031365">
                  <a:moveTo>
                    <a:pt x="0" y="0"/>
                  </a:moveTo>
                  <a:lnTo>
                    <a:pt x="24384000" y="0"/>
                  </a:lnTo>
                  <a:lnTo>
                    <a:pt x="24384000" y="2031365"/>
                  </a:lnTo>
                  <a:lnTo>
                    <a:pt x="0" y="20313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14460" b="-14460"/>
              </a:stretch>
            </a:blipFill>
          </p:spPr>
          <p:txBody>
            <a:bodyPr/>
            <a:lstStyle/>
            <a:p>
              <a:endParaRPr lang="en-IN" dirty="0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DF286D97-EF1B-6C00-9F18-48BAA359E3C1}"/>
              </a:ext>
            </a:extLst>
          </p:cNvPr>
          <p:cNvGrpSpPr/>
          <p:nvPr/>
        </p:nvGrpSpPr>
        <p:grpSpPr>
          <a:xfrm>
            <a:off x="1" y="1"/>
            <a:ext cx="18288000" cy="2367724"/>
            <a:chOff x="0" y="0"/>
            <a:chExt cx="24384000" cy="3156966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4437DC82-2543-B446-7638-D5546D3973A7}"/>
                </a:ext>
              </a:extLst>
            </p:cNvPr>
            <p:cNvSpPr/>
            <p:nvPr/>
          </p:nvSpPr>
          <p:spPr>
            <a:xfrm>
              <a:off x="0" y="0"/>
              <a:ext cx="24384000" cy="3156966"/>
            </a:xfrm>
            <a:custGeom>
              <a:avLst/>
              <a:gdLst/>
              <a:ahLst/>
              <a:cxnLst/>
              <a:rect l="l" t="t" r="r" b="b"/>
              <a:pathLst>
                <a:path w="24384000" h="3156966">
                  <a:moveTo>
                    <a:pt x="0" y="0"/>
                  </a:moveTo>
                  <a:lnTo>
                    <a:pt x="24384000" y="0"/>
                  </a:lnTo>
                  <a:lnTo>
                    <a:pt x="24384000" y="3156966"/>
                  </a:lnTo>
                  <a:lnTo>
                    <a:pt x="0" y="31569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5232" b="-5232"/>
              </a:stretch>
            </a:blipFill>
          </p:spPr>
          <p:txBody>
            <a:bodyPr/>
            <a:lstStyle/>
            <a:p>
              <a:endParaRPr lang="en-IN" dirty="0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3A686CFB-675E-B0B2-9FFC-21547244D806}"/>
              </a:ext>
            </a:extLst>
          </p:cNvPr>
          <p:cNvSpPr txBox="1"/>
          <p:nvPr/>
        </p:nvSpPr>
        <p:spPr>
          <a:xfrm>
            <a:off x="2133600" y="2781300"/>
            <a:ext cx="12420600" cy="458587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800" b="1" dirty="0">
                <a:latin typeface="Times New Roman"/>
                <a:cs typeface="Times New Roman"/>
              </a:rPr>
              <a:t>Objectives:</a:t>
            </a:r>
          </a:p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an ensemble-based machine learning model for early prediction of Chronic Kidney Disease (CKD).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improve prediction accuracy we used different models such as Random Forest, XGBoost, SVM, and ANN.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apply data preprocessing techniques like imputation and SMOTE for handling missing and imbalanced data.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integrate Explainable AI methods (SHAP &amp; LIME) for transparent and interpretable model predictions.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design a scalable and clinically reliable system suitable for real-world healthcare environments.</a:t>
            </a:r>
          </a:p>
        </p:txBody>
      </p:sp>
    </p:spTree>
    <p:extLst>
      <p:ext uri="{BB962C8B-B14F-4D97-AF65-F5344CB8AC3E}">
        <p14:creationId xmlns:p14="http://schemas.microsoft.com/office/powerpoint/2010/main" val="7341770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5C7DF89D-8956-20F2-EA87-E1B52D20C0D3}"/>
              </a:ext>
            </a:extLst>
          </p:cNvPr>
          <p:cNvGrpSpPr/>
          <p:nvPr/>
        </p:nvGrpSpPr>
        <p:grpSpPr>
          <a:xfrm>
            <a:off x="1" y="8863030"/>
            <a:ext cx="18288000" cy="1523524"/>
            <a:chOff x="0" y="0"/>
            <a:chExt cx="24384000" cy="203136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38629C10-60E5-5088-2888-AA8EC79F2D07}"/>
                </a:ext>
              </a:extLst>
            </p:cNvPr>
            <p:cNvSpPr/>
            <p:nvPr/>
          </p:nvSpPr>
          <p:spPr>
            <a:xfrm>
              <a:off x="0" y="0"/>
              <a:ext cx="24384000" cy="2031365"/>
            </a:xfrm>
            <a:custGeom>
              <a:avLst/>
              <a:gdLst/>
              <a:ahLst/>
              <a:cxnLst/>
              <a:rect l="l" t="t" r="r" b="b"/>
              <a:pathLst>
                <a:path w="24384000" h="2031365">
                  <a:moveTo>
                    <a:pt x="0" y="0"/>
                  </a:moveTo>
                  <a:lnTo>
                    <a:pt x="24384000" y="0"/>
                  </a:lnTo>
                  <a:lnTo>
                    <a:pt x="24384000" y="2031365"/>
                  </a:lnTo>
                  <a:lnTo>
                    <a:pt x="0" y="20313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14460" b="-14460"/>
              </a:stretch>
            </a:blipFill>
          </p:spPr>
          <p:txBody>
            <a:bodyPr/>
            <a:lstStyle/>
            <a:p>
              <a:endParaRPr lang="en-IN" dirty="0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CB9B5DD2-F647-3AF7-79B3-57BDDD0A8D0A}"/>
              </a:ext>
            </a:extLst>
          </p:cNvPr>
          <p:cNvGrpSpPr/>
          <p:nvPr/>
        </p:nvGrpSpPr>
        <p:grpSpPr>
          <a:xfrm>
            <a:off x="1" y="1"/>
            <a:ext cx="18288000" cy="2367724"/>
            <a:chOff x="0" y="0"/>
            <a:chExt cx="24384000" cy="3156966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EEB802B9-BD5E-6892-34D9-F0C0B7D26856}"/>
                </a:ext>
              </a:extLst>
            </p:cNvPr>
            <p:cNvSpPr/>
            <p:nvPr/>
          </p:nvSpPr>
          <p:spPr>
            <a:xfrm>
              <a:off x="0" y="0"/>
              <a:ext cx="24384000" cy="3156966"/>
            </a:xfrm>
            <a:custGeom>
              <a:avLst/>
              <a:gdLst/>
              <a:ahLst/>
              <a:cxnLst/>
              <a:rect l="l" t="t" r="r" b="b"/>
              <a:pathLst>
                <a:path w="24384000" h="3156966">
                  <a:moveTo>
                    <a:pt x="0" y="0"/>
                  </a:moveTo>
                  <a:lnTo>
                    <a:pt x="24384000" y="0"/>
                  </a:lnTo>
                  <a:lnTo>
                    <a:pt x="24384000" y="3156966"/>
                  </a:lnTo>
                  <a:lnTo>
                    <a:pt x="0" y="31569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5232" b="-5232"/>
              </a:stretch>
            </a:blipFill>
          </p:spPr>
          <p:txBody>
            <a:bodyPr/>
            <a:lstStyle/>
            <a:p>
              <a:endParaRPr lang="en-IN" dirty="0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59E6A5D7-5EAA-3D6C-0367-15510B791825}"/>
              </a:ext>
            </a:extLst>
          </p:cNvPr>
          <p:cNvSpPr txBox="1"/>
          <p:nvPr/>
        </p:nvSpPr>
        <p:spPr>
          <a:xfrm>
            <a:off x="837314" y="2578396"/>
            <a:ext cx="12726286" cy="486287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latin typeface="Times New Roman"/>
                <a:cs typeface="Times New Roman"/>
              </a:rPr>
              <a:t>Literature Review :</a:t>
            </a:r>
            <a:endParaRPr lang="en-US" sz="2800" dirty="0">
              <a:latin typeface="Times New Roman"/>
              <a:cs typeface="Times New Roman"/>
            </a:endParaRPr>
          </a:p>
          <a:p>
            <a:endParaRPr lang="en-US" sz="2400" b="1" dirty="0">
              <a:latin typeface="Times New Roman"/>
              <a:cs typeface="Times New Roman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Kanasaki et al. (2024)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Highlighted the essential role of biomarkers like eGFR and albuminuria in diabetic nephropathy staging.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Souza et al. (2025)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Proposed a reagent-free microwave sensor as a low-cost, accurate tool for CKD screening.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Ghosh et al. (2025)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Enhanced CKD staging using classifier optimization and SHAP-based explainability.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Moreno-Sánchez et al. (2025)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Developed an interpretable tree-based ensemble AI model balancing accuracy and clinical transparency.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Sharen et al. (2024)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Introduced MSKd Net, a transformer-based deep learning model for accurate kidney disease stage classification.</a:t>
            </a:r>
          </a:p>
          <a:p>
            <a:endParaRPr lang="en-US" b="1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334048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D989B7F9-158C-3412-C57D-AAEF92B962E0}"/>
              </a:ext>
            </a:extLst>
          </p:cNvPr>
          <p:cNvGrpSpPr/>
          <p:nvPr/>
        </p:nvGrpSpPr>
        <p:grpSpPr>
          <a:xfrm>
            <a:off x="1" y="8863030"/>
            <a:ext cx="18288000" cy="1523524"/>
            <a:chOff x="0" y="0"/>
            <a:chExt cx="24384000" cy="203136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20FF0540-BB2A-09AE-1B25-8CE2E02F583C}"/>
                </a:ext>
              </a:extLst>
            </p:cNvPr>
            <p:cNvSpPr/>
            <p:nvPr/>
          </p:nvSpPr>
          <p:spPr>
            <a:xfrm>
              <a:off x="0" y="0"/>
              <a:ext cx="24384000" cy="2031365"/>
            </a:xfrm>
            <a:custGeom>
              <a:avLst/>
              <a:gdLst/>
              <a:ahLst/>
              <a:cxnLst/>
              <a:rect l="l" t="t" r="r" b="b"/>
              <a:pathLst>
                <a:path w="24384000" h="2031365">
                  <a:moveTo>
                    <a:pt x="0" y="0"/>
                  </a:moveTo>
                  <a:lnTo>
                    <a:pt x="24384000" y="0"/>
                  </a:lnTo>
                  <a:lnTo>
                    <a:pt x="24384000" y="2031365"/>
                  </a:lnTo>
                  <a:lnTo>
                    <a:pt x="0" y="20313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14460" b="-14460"/>
              </a:stretch>
            </a:blipFill>
          </p:spPr>
          <p:txBody>
            <a:bodyPr/>
            <a:lstStyle/>
            <a:p>
              <a:endParaRPr lang="en-IN" dirty="0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435117BC-54DD-2C41-0916-8DB3A8A72F9B}"/>
              </a:ext>
            </a:extLst>
          </p:cNvPr>
          <p:cNvGrpSpPr/>
          <p:nvPr/>
        </p:nvGrpSpPr>
        <p:grpSpPr>
          <a:xfrm>
            <a:off x="1" y="1"/>
            <a:ext cx="18288000" cy="2367724"/>
            <a:chOff x="0" y="0"/>
            <a:chExt cx="24384000" cy="3156966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A0A3E2E3-EB94-B5CB-9C8B-E136F44A5270}"/>
                </a:ext>
              </a:extLst>
            </p:cNvPr>
            <p:cNvSpPr/>
            <p:nvPr/>
          </p:nvSpPr>
          <p:spPr>
            <a:xfrm>
              <a:off x="0" y="0"/>
              <a:ext cx="24384000" cy="3156966"/>
            </a:xfrm>
            <a:custGeom>
              <a:avLst/>
              <a:gdLst/>
              <a:ahLst/>
              <a:cxnLst/>
              <a:rect l="l" t="t" r="r" b="b"/>
              <a:pathLst>
                <a:path w="24384000" h="3156966">
                  <a:moveTo>
                    <a:pt x="0" y="0"/>
                  </a:moveTo>
                  <a:lnTo>
                    <a:pt x="24384000" y="0"/>
                  </a:lnTo>
                  <a:lnTo>
                    <a:pt x="24384000" y="3156966"/>
                  </a:lnTo>
                  <a:lnTo>
                    <a:pt x="0" y="31569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5232" b="-5232"/>
              </a:stretch>
            </a:blipFill>
          </p:spPr>
          <p:txBody>
            <a:bodyPr/>
            <a:lstStyle/>
            <a:p>
              <a:endParaRPr lang="en-IN" dirty="0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77F03CB0-C020-495F-21A9-EA7E93DDB088}"/>
              </a:ext>
            </a:extLst>
          </p:cNvPr>
          <p:cNvSpPr txBox="1"/>
          <p:nvPr/>
        </p:nvSpPr>
        <p:spPr>
          <a:xfrm>
            <a:off x="1754373" y="2578396"/>
            <a:ext cx="16259307" cy="704808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Methodology:</a:t>
            </a:r>
          </a:p>
          <a:p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Used: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used is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Chronic Kidney Disease Dataset.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consists of 400–500 patient records 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classes: CKD vs. Non-CKD.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features: Age, Gender, eGFR, Serum creatinine, BUN, Albumin, BP, Diabetes.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Missing data handled; class imbalance corrected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 Pipelines:</a:t>
            </a:r>
            <a:endParaRPr lang="en-US" sz="2400" dirty="0"/>
          </a:p>
          <a:p>
            <a:pPr marL="514350" indent="-51435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→ Handle missing values, remove duplicates, and standardize column names.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Encoding → Convert categorical features (e.g., gender, diabetes, hypertension) using one-hot or label encoding.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Normalization → Scale numerical attributes (e.g., serum creatinine, urea, eGFR) using Min–Max or StandardScaler for uniform model input.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Splitting → Divide the dataset into train (70%), validation (15%), and test (15%) subsets to ensure fair model evaluation.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Imbalance Handling → Apply SMOTE or class-weight adjustment to balance CKD and non-CKD samples.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23387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537617F8-8DED-057E-E5FC-CE9F1A88542F}"/>
              </a:ext>
            </a:extLst>
          </p:cNvPr>
          <p:cNvGrpSpPr/>
          <p:nvPr/>
        </p:nvGrpSpPr>
        <p:grpSpPr>
          <a:xfrm>
            <a:off x="1" y="8863030"/>
            <a:ext cx="18288000" cy="1523524"/>
            <a:chOff x="0" y="0"/>
            <a:chExt cx="24384000" cy="203136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7A80F94B-6026-D4DF-108E-E3BAA5676AED}"/>
                </a:ext>
              </a:extLst>
            </p:cNvPr>
            <p:cNvSpPr/>
            <p:nvPr/>
          </p:nvSpPr>
          <p:spPr>
            <a:xfrm>
              <a:off x="0" y="0"/>
              <a:ext cx="24384000" cy="2031365"/>
            </a:xfrm>
            <a:custGeom>
              <a:avLst/>
              <a:gdLst/>
              <a:ahLst/>
              <a:cxnLst/>
              <a:rect l="l" t="t" r="r" b="b"/>
              <a:pathLst>
                <a:path w="24384000" h="2031365">
                  <a:moveTo>
                    <a:pt x="0" y="0"/>
                  </a:moveTo>
                  <a:lnTo>
                    <a:pt x="24384000" y="0"/>
                  </a:lnTo>
                  <a:lnTo>
                    <a:pt x="24384000" y="2031365"/>
                  </a:lnTo>
                  <a:lnTo>
                    <a:pt x="0" y="20313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14460" b="-14460"/>
              </a:stretch>
            </a:blipFill>
          </p:spPr>
          <p:txBody>
            <a:bodyPr/>
            <a:lstStyle/>
            <a:p>
              <a:endParaRPr lang="en-IN" dirty="0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0DA2A45D-1973-13E4-CE98-0730C82342A3}"/>
              </a:ext>
            </a:extLst>
          </p:cNvPr>
          <p:cNvGrpSpPr/>
          <p:nvPr/>
        </p:nvGrpSpPr>
        <p:grpSpPr>
          <a:xfrm>
            <a:off x="1" y="1"/>
            <a:ext cx="18288000" cy="2367724"/>
            <a:chOff x="0" y="0"/>
            <a:chExt cx="24384000" cy="3156966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505E09D9-CCE8-F11D-7C17-D7D602F95619}"/>
                </a:ext>
              </a:extLst>
            </p:cNvPr>
            <p:cNvSpPr/>
            <p:nvPr/>
          </p:nvSpPr>
          <p:spPr>
            <a:xfrm>
              <a:off x="0" y="0"/>
              <a:ext cx="24384000" cy="3156966"/>
            </a:xfrm>
            <a:custGeom>
              <a:avLst/>
              <a:gdLst/>
              <a:ahLst/>
              <a:cxnLst/>
              <a:rect l="l" t="t" r="r" b="b"/>
              <a:pathLst>
                <a:path w="24384000" h="3156966">
                  <a:moveTo>
                    <a:pt x="0" y="0"/>
                  </a:moveTo>
                  <a:lnTo>
                    <a:pt x="24384000" y="0"/>
                  </a:lnTo>
                  <a:lnTo>
                    <a:pt x="24384000" y="3156966"/>
                  </a:lnTo>
                  <a:lnTo>
                    <a:pt x="0" y="31569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5232" b="-5232"/>
              </a:stretch>
            </a:blipFill>
          </p:spPr>
          <p:txBody>
            <a:bodyPr/>
            <a:lstStyle/>
            <a:p>
              <a:endParaRPr lang="en-IN" dirty="0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F18069B-60EA-A5CC-620F-5A50E7AC9336}"/>
              </a:ext>
            </a:extLst>
          </p:cNvPr>
          <p:cNvSpPr txBox="1"/>
          <p:nvPr/>
        </p:nvSpPr>
        <p:spPr>
          <a:xfrm>
            <a:off x="1064675" y="2367725"/>
            <a:ext cx="10619269" cy="594008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800" b="1" dirty="0">
                <a:latin typeface="Times New Roman"/>
                <a:cs typeface="Times New Roman"/>
              </a:rPr>
              <a:t>Architecture :</a:t>
            </a:r>
          </a:p>
          <a:p>
            <a:endParaRPr lang="en-US" sz="2800" b="1" dirty="0">
              <a:latin typeface="Times New Roman"/>
              <a:cs typeface="Times New Roman"/>
            </a:endParaRPr>
          </a:p>
          <a:p>
            <a:pPr marL="228600" indent="-228600">
              <a:buFont typeface="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acquired and prepared for model development.</a:t>
            </a:r>
          </a:p>
          <a:p>
            <a:pPr marL="228600" indent="-228600">
              <a:buFont typeface="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Categorical variables converted into numerical format.</a:t>
            </a:r>
          </a:p>
          <a:p>
            <a:pPr marL="228600" indent="-228600">
              <a:buFont typeface="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Missing values handled using appropriate imputation methods.</a:t>
            </a:r>
          </a:p>
          <a:p>
            <a:pPr marL="228600" indent="-228600">
              <a:buFont typeface="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consistency and quality ensured through preprocessing.</a:t>
            </a:r>
          </a:p>
          <a:p>
            <a:pPr marL="228600" indent="-228600">
              <a:buFont typeface="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features selected and redundant attributes removed.</a:t>
            </a:r>
          </a:p>
          <a:p>
            <a:pPr marL="228600" indent="-228600">
              <a:buFont typeface="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balanced using resampling techniques to handle class imbalance.</a:t>
            </a:r>
          </a:p>
          <a:p>
            <a:pPr marL="228600" indent="-228600">
              <a:buFont typeface="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Optimized data used to train multiple classification models.</a:t>
            </a:r>
          </a:p>
          <a:p>
            <a:pPr marL="228600" indent="-228600">
              <a:buFont typeface="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Models trained include ANN, Logistic Regression, SVM, Random Forest, KNN, XGBoost, and Naive Bayes.</a:t>
            </a:r>
          </a:p>
          <a:p>
            <a:pPr marL="228600" indent="-228600">
              <a:buFont typeface="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model evaluated using standard performance metrics.</a:t>
            </a:r>
          </a:p>
          <a:p>
            <a:pPr marL="228600" indent="-228600">
              <a:buFont typeface="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performances compared to identify the most effective classifier.</a:t>
            </a:r>
          </a:p>
          <a:p>
            <a:pPr marL="228600" indent="-228600">
              <a:buFont typeface="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i="1" dirty="0">
              <a:ea typeface="Calibri"/>
              <a:cs typeface="Calibri"/>
            </a:endParaRPr>
          </a:p>
          <a:p>
            <a:pPr algn="ctr"/>
            <a:endParaRPr lang="en-US" dirty="0">
              <a:ea typeface="Calibri"/>
              <a:cs typeface="Calibri"/>
            </a:endParaRPr>
          </a:p>
        </p:txBody>
      </p:sp>
      <p:pic>
        <p:nvPicPr>
          <p:cNvPr id="12" name="Content Placeholder 4">
            <a:extLst>
              <a:ext uri="{FF2B5EF4-FFF2-40B4-BE49-F238E27FC236}">
                <a16:creationId xmlns:a16="http://schemas.microsoft.com/office/drawing/2014/main" id="{C457F0ED-2702-698F-A6B6-2EDE29C8434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37720" y="1691640"/>
            <a:ext cx="5745480" cy="6263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48293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9F1E3C4D-E25A-E9D5-694A-197222156AF1}"/>
              </a:ext>
            </a:extLst>
          </p:cNvPr>
          <p:cNvGrpSpPr/>
          <p:nvPr/>
        </p:nvGrpSpPr>
        <p:grpSpPr>
          <a:xfrm>
            <a:off x="1" y="8863030"/>
            <a:ext cx="18288000" cy="1523524"/>
            <a:chOff x="0" y="0"/>
            <a:chExt cx="24384000" cy="203136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2FD8B3F2-5881-23FD-E839-6ECD0EF268A1}"/>
                </a:ext>
              </a:extLst>
            </p:cNvPr>
            <p:cNvSpPr/>
            <p:nvPr/>
          </p:nvSpPr>
          <p:spPr>
            <a:xfrm>
              <a:off x="0" y="0"/>
              <a:ext cx="24384000" cy="2031365"/>
            </a:xfrm>
            <a:custGeom>
              <a:avLst/>
              <a:gdLst/>
              <a:ahLst/>
              <a:cxnLst/>
              <a:rect l="l" t="t" r="r" b="b"/>
              <a:pathLst>
                <a:path w="24384000" h="2031365">
                  <a:moveTo>
                    <a:pt x="0" y="0"/>
                  </a:moveTo>
                  <a:lnTo>
                    <a:pt x="24384000" y="0"/>
                  </a:lnTo>
                  <a:lnTo>
                    <a:pt x="24384000" y="2031365"/>
                  </a:lnTo>
                  <a:lnTo>
                    <a:pt x="0" y="20313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14460" b="-14460"/>
              </a:stretch>
            </a:blipFill>
          </p:spPr>
          <p:txBody>
            <a:bodyPr/>
            <a:lstStyle/>
            <a:p>
              <a:endParaRPr lang="en-IN" dirty="0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6024BA87-4432-8934-1F91-9F6C88719DFB}"/>
              </a:ext>
            </a:extLst>
          </p:cNvPr>
          <p:cNvGrpSpPr/>
          <p:nvPr/>
        </p:nvGrpSpPr>
        <p:grpSpPr>
          <a:xfrm>
            <a:off x="1" y="1"/>
            <a:ext cx="18288000" cy="2367724"/>
            <a:chOff x="0" y="0"/>
            <a:chExt cx="24384000" cy="3156966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2D1DE807-1489-AC08-575E-752B8994A594}"/>
                </a:ext>
              </a:extLst>
            </p:cNvPr>
            <p:cNvSpPr/>
            <p:nvPr/>
          </p:nvSpPr>
          <p:spPr>
            <a:xfrm>
              <a:off x="0" y="0"/>
              <a:ext cx="24384000" cy="3156966"/>
            </a:xfrm>
            <a:custGeom>
              <a:avLst/>
              <a:gdLst/>
              <a:ahLst/>
              <a:cxnLst/>
              <a:rect l="l" t="t" r="r" b="b"/>
              <a:pathLst>
                <a:path w="24384000" h="3156966">
                  <a:moveTo>
                    <a:pt x="0" y="0"/>
                  </a:moveTo>
                  <a:lnTo>
                    <a:pt x="24384000" y="0"/>
                  </a:lnTo>
                  <a:lnTo>
                    <a:pt x="24384000" y="3156966"/>
                  </a:lnTo>
                  <a:lnTo>
                    <a:pt x="0" y="31569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5232" b="-5232"/>
              </a:stretch>
            </a:blipFill>
          </p:spPr>
          <p:txBody>
            <a:bodyPr/>
            <a:lstStyle/>
            <a:p>
              <a:endParaRPr lang="en-IN" dirty="0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505F3442-8F92-F17F-C3D5-02FA14D7FA10}"/>
              </a:ext>
            </a:extLst>
          </p:cNvPr>
          <p:cNvSpPr txBox="1"/>
          <p:nvPr/>
        </p:nvSpPr>
        <p:spPr>
          <a:xfrm>
            <a:off x="1678330" y="2052262"/>
            <a:ext cx="12037670" cy="196977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algn="l" rtl="0"/>
            <a:endParaRPr lang="en-US" sz="2800" b="1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algn="l" rtl="0"/>
            <a:r>
              <a:rPr lang="en-US" sz="2800" b="1" kern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 and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Discussion</a:t>
            </a:r>
            <a:r>
              <a:rPr lang="en-US" sz="2800" b="1" kern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</a:p>
          <a:p>
            <a:pPr marL="0" algn="l" rtl="0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Comparison:Precision,Recall,F1-score</a:t>
            </a:r>
          </a:p>
          <a:p>
            <a:pPr marL="0" algn="l" rtl="0"/>
            <a:endParaRPr lang="en-US" sz="2400" b="1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8A9A1CA-FAED-6CE1-4EB3-51DDD65D6D90}"/>
              </a:ext>
            </a:extLst>
          </p:cNvPr>
          <p:cNvSpPr txBox="1"/>
          <p:nvPr/>
        </p:nvSpPr>
        <p:spPr>
          <a:xfrm>
            <a:off x="1678330" y="3306019"/>
            <a:ext cx="7848600" cy="406265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>
              <a:buFont typeface="Arial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Comparison made among seven ML models: Logistic Regression, SVM, Random Forest, Naive Bayes, KNN, XGBoost, and ANN.</a:t>
            </a:r>
          </a:p>
          <a:p>
            <a:pPr marL="228600" indent="-228600">
              <a:buFont typeface="Arial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metrics used: Precision, Recall, and F1-Score.</a:t>
            </a:r>
          </a:p>
          <a:p>
            <a:pPr marL="228600" indent="-228600">
              <a:buFont typeface="Arial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models demonstrate high reliability and robustness in clinical classification.</a:t>
            </a:r>
          </a:p>
          <a:p>
            <a:pPr marL="228600" indent="-228600">
              <a:buFont typeface="Arial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Minimal variation between precision, recall, and F1-score suggests balanced performance with fewer false positives and negatives.</a:t>
            </a:r>
          </a:p>
          <a:p>
            <a:endParaRPr lang="en-US" sz="2400" kern="12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algn="ctr"/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F166770-6D21-E386-49D1-25C9BDE650A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31680" y="2318943"/>
            <a:ext cx="7848600" cy="5649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69332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4">
            <a:extLst>
              <a:ext uri="{FF2B5EF4-FFF2-40B4-BE49-F238E27FC236}">
                <a16:creationId xmlns:a16="http://schemas.microsoft.com/office/drawing/2014/main" id="{155DCB59-0D61-E48F-107B-8293ECD05B19}"/>
              </a:ext>
            </a:extLst>
          </p:cNvPr>
          <p:cNvGrpSpPr/>
          <p:nvPr/>
        </p:nvGrpSpPr>
        <p:grpSpPr>
          <a:xfrm>
            <a:off x="1" y="1"/>
            <a:ext cx="18288000" cy="2367724"/>
            <a:chOff x="0" y="0"/>
            <a:chExt cx="24384000" cy="3156966"/>
          </a:xfrm>
        </p:grpSpPr>
        <p:sp>
          <p:nvSpPr>
            <p:cNvPr id="3" name="Freeform 5">
              <a:extLst>
                <a:ext uri="{FF2B5EF4-FFF2-40B4-BE49-F238E27FC236}">
                  <a16:creationId xmlns:a16="http://schemas.microsoft.com/office/drawing/2014/main" id="{A6183210-F56B-E86D-C4CA-F5189BDF913A}"/>
                </a:ext>
              </a:extLst>
            </p:cNvPr>
            <p:cNvSpPr/>
            <p:nvPr/>
          </p:nvSpPr>
          <p:spPr>
            <a:xfrm>
              <a:off x="0" y="0"/>
              <a:ext cx="24384000" cy="3156966"/>
            </a:xfrm>
            <a:custGeom>
              <a:avLst/>
              <a:gdLst/>
              <a:ahLst/>
              <a:cxnLst/>
              <a:rect l="l" t="t" r="r" b="b"/>
              <a:pathLst>
                <a:path w="24384000" h="3156966">
                  <a:moveTo>
                    <a:pt x="0" y="0"/>
                  </a:moveTo>
                  <a:lnTo>
                    <a:pt x="24384000" y="0"/>
                  </a:lnTo>
                  <a:lnTo>
                    <a:pt x="24384000" y="3156966"/>
                  </a:lnTo>
                  <a:lnTo>
                    <a:pt x="0" y="31569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5232" b="-5232"/>
              </a:stretch>
            </a:blipFill>
          </p:spPr>
          <p:txBody>
            <a:bodyPr/>
            <a:lstStyle/>
            <a:p>
              <a:endParaRPr lang="en-IN" dirty="0"/>
            </a:p>
          </p:txBody>
        </p:sp>
      </p:grpSp>
      <p:sp>
        <p:nvSpPr>
          <p:cNvPr id="5" name="Freeform 3" descr="A purple rectangle with white text&#10;&#10;AI-generated content may be incorrect.">
            <a:extLst>
              <a:ext uri="{FF2B5EF4-FFF2-40B4-BE49-F238E27FC236}">
                <a16:creationId xmlns:a16="http://schemas.microsoft.com/office/drawing/2014/main" id="{D7719E8E-D212-C71B-80A3-E2E13A38E621}"/>
              </a:ext>
            </a:extLst>
          </p:cNvPr>
          <p:cNvSpPr/>
          <p:nvPr/>
        </p:nvSpPr>
        <p:spPr>
          <a:xfrm>
            <a:off x="1" y="8863030"/>
            <a:ext cx="18288000" cy="1523524"/>
          </a:xfrm>
          <a:custGeom>
            <a:avLst/>
            <a:gdLst/>
            <a:ahLst/>
            <a:cxnLst/>
            <a:rect l="l" t="t" r="r" b="b"/>
            <a:pathLst>
              <a:path w="24384000" h="2031365">
                <a:moveTo>
                  <a:pt x="0" y="0"/>
                </a:moveTo>
                <a:lnTo>
                  <a:pt x="24384000" y="0"/>
                </a:lnTo>
                <a:lnTo>
                  <a:pt x="24384000" y="2031365"/>
                </a:lnTo>
                <a:lnTo>
                  <a:pt x="0" y="20313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4460" b="-14460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2D48947-61F2-8EBB-443C-C437ACD1295C}"/>
              </a:ext>
            </a:extLst>
          </p:cNvPr>
          <p:cNvSpPr txBox="1"/>
          <p:nvPr/>
        </p:nvSpPr>
        <p:spPr>
          <a:xfrm>
            <a:off x="1343527" y="2576764"/>
            <a:ext cx="8402054" cy="560153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latin typeface="Times New Roman"/>
                <a:cs typeface="Times New Roman"/>
              </a:rPr>
              <a:t>Performance Comparison of Proposed Model</a:t>
            </a:r>
          </a:p>
          <a:p>
            <a:pPr marL="228600" indent="-228600">
              <a:buFont typeface="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machine learning models achieved accuracy above 95%.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attained the highest accuracy (~99%), showing strong pattern recognition capability.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XGBoost, ANN, and SVM also demonstrated excellent and stable performance.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KNN and Logistic Regression performed competitively, maintaining high accuracy despite their simplicity.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Naive Bayes achieved strong results due to effective preprocessing, feature selection, and SMOTE balancing.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robust preprocessing and class balancing significantly enhanced the accuracy of all models.</a:t>
            </a:r>
          </a:p>
          <a:p>
            <a:pPr marL="228600" indent="-228600">
              <a:buFont typeface="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buFont typeface=""/>
              <a:buChar char="•"/>
            </a:pPr>
            <a:endParaRPr lang="en-US" sz="2400" dirty="0"/>
          </a:p>
          <a:p>
            <a:pPr algn="ctr"/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DC4FE29-689D-9E63-5F12-5AF1CCC0AAC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47960" y="2314180"/>
            <a:ext cx="7940039" cy="5658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93088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4">
            <a:extLst>
              <a:ext uri="{FF2B5EF4-FFF2-40B4-BE49-F238E27FC236}">
                <a16:creationId xmlns:a16="http://schemas.microsoft.com/office/drawing/2014/main" id="{6A61C80F-9838-4883-7B91-0F006D5BB4D4}"/>
              </a:ext>
            </a:extLst>
          </p:cNvPr>
          <p:cNvGrpSpPr/>
          <p:nvPr/>
        </p:nvGrpSpPr>
        <p:grpSpPr>
          <a:xfrm>
            <a:off x="1" y="1"/>
            <a:ext cx="18288000" cy="2367724"/>
            <a:chOff x="0" y="0"/>
            <a:chExt cx="24384000" cy="3156966"/>
          </a:xfrm>
        </p:grpSpPr>
        <p:sp>
          <p:nvSpPr>
            <p:cNvPr id="3" name="Freeform 5">
              <a:extLst>
                <a:ext uri="{FF2B5EF4-FFF2-40B4-BE49-F238E27FC236}">
                  <a16:creationId xmlns:a16="http://schemas.microsoft.com/office/drawing/2014/main" id="{F67413D5-9D25-7903-A5EA-053991C6E820}"/>
                </a:ext>
              </a:extLst>
            </p:cNvPr>
            <p:cNvSpPr/>
            <p:nvPr/>
          </p:nvSpPr>
          <p:spPr>
            <a:xfrm>
              <a:off x="0" y="0"/>
              <a:ext cx="24384000" cy="3156966"/>
            </a:xfrm>
            <a:custGeom>
              <a:avLst/>
              <a:gdLst/>
              <a:ahLst/>
              <a:cxnLst/>
              <a:rect l="l" t="t" r="r" b="b"/>
              <a:pathLst>
                <a:path w="24384000" h="3156966">
                  <a:moveTo>
                    <a:pt x="0" y="0"/>
                  </a:moveTo>
                  <a:lnTo>
                    <a:pt x="24384000" y="0"/>
                  </a:lnTo>
                  <a:lnTo>
                    <a:pt x="24384000" y="3156966"/>
                  </a:lnTo>
                  <a:lnTo>
                    <a:pt x="0" y="31569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5232" b="-5232"/>
              </a:stretch>
            </a:blipFill>
          </p:spPr>
          <p:txBody>
            <a:bodyPr/>
            <a:lstStyle/>
            <a:p>
              <a:endParaRPr lang="en-IN" dirty="0"/>
            </a:p>
          </p:txBody>
        </p:sp>
      </p:grpSp>
      <p:sp>
        <p:nvSpPr>
          <p:cNvPr id="5" name="Freeform 3" descr="A purple rectangle with white text&#10;&#10;AI-generated content may be incorrect.">
            <a:extLst>
              <a:ext uri="{FF2B5EF4-FFF2-40B4-BE49-F238E27FC236}">
                <a16:creationId xmlns:a16="http://schemas.microsoft.com/office/drawing/2014/main" id="{054463B7-D1F9-658F-4522-3165A80ACDD6}"/>
              </a:ext>
            </a:extLst>
          </p:cNvPr>
          <p:cNvSpPr/>
          <p:nvPr/>
        </p:nvSpPr>
        <p:spPr>
          <a:xfrm>
            <a:off x="1" y="8863030"/>
            <a:ext cx="18288000" cy="1523524"/>
          </a:xfrm>
          <a:custGeom>
            <a:avLst/>
            <a:gdLst/>
            <a:ahLst/>
            <a:cxnLst/>
            <a:rect l="l" t="t" r="r" b="b"/>
            <a:pathLst>
              <a:path w="24384000" h="2031365">
                <a:moveTo>
                  <a:pt x="0" y="0"/>
                </a:moveTo>
                <a:lnTo>
                  <a:pt x="24384000" y="0"/>
                </a:lnTo>
                <a:lnTo>
                  <a:pt x="24384000" y="2031365"/>
                </a:lnTo>
                <a:lnTo>
                  <a:pt x="0" y="20313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4460" b="-14460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1475B7-2242-1CE8-85CB-CD0FF751B7E1}"/>
              </a:ext>
            </a:extLst>
          </p:cNvPr>
          <p:cNvSpPr txBox="1"/>
          <p:nvPr/>
        </p:nvSpPr>
        <p:spPr>
          <a:xfrm>
            <a:off x="428625" y="2571750"/>
            <a:ext cx="8731250" cy="418576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latin typeface="Times New Roman"/>
                <a:cs typeface="Times New Roman"/>
              </a:rPr>
              <a:t>Conclusion</a:t>
            </a:r>
          </a:p>
          <a:p>
            <a:endParaRPr lang="en-US" sz="2800" b="1" dirty="0">
              <a:latin typeface="Times New Roman"/>
              <a:cs typeface="Times New Roman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Achieved high diagnostic accuracy and strong interpretability using SHAP and LIME visual explanations.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Demonstrated robustness across heterogeneous patient datasets and multiple clinical biomarkers.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Ensured transparency in decision-making, improving clinician trust and model adoption.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Outperformed traditional classifiers and standalone deep models in both accuracy and explainability.</a:t>
            </a:r>
          </a:p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D371AC3-8D48-B313-E85C-7D894AA08AC6}"/>
              </a:ext>
            </a:extLst>
          </p:cNvPr>
          <p:cNvSpPr txBox="1"/>
          <p:nvPr/>
        </p:nvSpPr>
        <p:spPr>
          <a:xfrm>
            <a:off x="9506585" y="2571750"/>
            <a:ext cx="6873875" cy="517064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>
                <a:latin typeface="Times New Roman"/>
                <a:cs typeface="Times New Roman"/>
              </a:rPr>
              <a:t>Future Scope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real-time clinical data streams (e.g., IoT-based patient monitoring) for continuous CKD risk assessment.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Extend the framework to multi-disease prediction, linking CKD with comorbidities such as diabetes and hypertension.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Incorporate advanced multimodal fusion (lab reports, imaging, and EHR text) for holistic patient evaluation.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 Neural Architecture Search (NAS) and attention-based fusion to further optimize model performance.</a:t>
            </a:r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05039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4">
            <a:extLst>
              <a:ext uri="{FF2B5EF4-FFF2-40B4-BE49-F238E27FC236}">
                <a16:creationId xmlns:a16="http://schemas.microsoft.com/office/drawing/2014/main" id="{FFD2D4C4-99CF-00E5-53D3-43EF9065FC70}"/>
              </a:ext>
            </a:extLst>
          </p:cNvPr>
          <p:cNvGrpSpPr/>
          <p:nvPr/>
        </p:nvGrpSpPr>
        <p:grpSpPr>
          <a:xfrm>
            <a:off x="1" y="1"/>
            <a:ext cx="18288000" cy="2367724"/>
            <a:chOff x="0" y="0"/>
            <a:chExt cx="24384000" cy="3156966"/>
          </a:xfrm>
        </p:grpSpPr>
        <p:sp>
          <p:nvSpPr>
            <p:cNvPr id="3" name="Freeform 5">
              <a:extLst>
                <a:ext uri="{FF2B5EF4-FFF2-40B4-BE49-F238E27FC236}">
                  <a16:creationId xmlns:a16="http://schemas.microsoft.com/office/drawing/2014/main" id="{806E0440-980D-3EF6-D598-DF48B7FED97D}"/>
                </a:ext>
              </a:extLst>
            </p:cNvPr>
            <p:cNvSpPr/>
            <p:nvPr/>
          </p:nvSpPr>
          <p:spPr>
            <a:xfrm>
              <a:off x="0" y="0"/>
              <a:ext cx="24384000" cy="3156966"/>
            </a:xfrm>
            <a:custGeom>
              <a:avLst/>
              <a:gdLst/>
              <a:ahLst/>
              <a:cxnLst/>
              <a:rect l="l" t="t" r="r" b="b"/>
              <a:pathLst>
                <a:path w="24384000" h="3156966">
                  <a:moveTo>
                    <a:pt x="0" y="0"/>
                  </a:moveTo>
                  <a:lnTo>
                    <a:pt x="24384000" y="0"/>
                  </a:lnTo>
                  <a:lnTo>
                    <a:pt x="24384000" y="3156966"/>
                  </a:lnTo>
                  <a:lnTo>
                    <a:pt x="0" y="31569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5232" b="-5232"/>
              </a:stretch>
            </a:blipFill>
          </p:spPr>
          <p:txBody>
            <a:bodyPr/>
            <a:lstStyle/>
            <a:p>
              <a:endParaRPr lang="en-IN" dirty="0"/>
            </a:p>
          </p:txBody>
        </p:sp>
      </p:grpSp>
      <p:sp>
        <p:nvSpPr>
          <p:cNvPr id="5" name="Freeform 3" descr="A purple rectangle with white text&#10;&#10;AI-generated content may be incorrect.">
            <a:extLst>
              <a:ext uri="{FF2B5EF4-FFF2-40B4-BE49-F238E27FC236}">
                <a16:creationId xmlns:a16="http://schemas.microsoft.com/office/drawing/2014/main" id="{1CF3E668-1D3E-5B32-8B25-0D1A97ACAFA5}"/>
              </a:ext>
            </a:extLst>
          </p:cNvPr>
          <p:cNvSpPr/>
          <p:nvPr/>
        </p:nvSpPr>
        <p:spPr>
          <a:xfrm>
            <a:off x="1" y="8863030"/>
            <a:ext cx="18288000" cy="1523524"/>
          </a:xfrm>
          <a:custGeom>
            <a:avLst/>
            <a:gdLst/>
            <a:ahLst/>
            <a:cxnLst/>
            <a:rect l="l" t="t" r="r" b="b"/>
            <a:pathLst>
              <a:path w="24384000" h="2031365">
                <a:moveTo>
                  <a:pt x="0" y="0"/>
                </a:moveTo>
                <a:lnTo>
                  <a:pt x="24384000" y="0"/>
                </a:lnTo>
                <a:lnTo>
                  <a:pt x="24384000" y="2031365"/>
                </a:lnTo>
                <a:lnTo>
                  <a:pt x="0" y="20313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4460" b="-14460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22F2561-4D82-14AF-754B-2A301ECF01F2}"/>
              </a:ext>
            </a:extLst>
          </p:cNvPr>
          <p:cNvSpPr txBox="1"/>
          <p:nvPr/>
        </p:nvSpPr>
        <p:spPr>
          <a:xfrm>
            <a:off x="1285875" y="2571750"/>
            <a:ext cx="13446125" cy="40934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rtl="0"/>
            <a:r>
              <a:rPr lang="en-US" sz="2800" b="1" dirty="0">
                <a:latin typeface="Times New Roman"/>
                <a:ea typeface="Neue Haas Grotesk Text Pro"/>
                <a:cs typeface="Neue Haas Grotesk Text Pro"/>
              </a:rPr>
              <a:t> References</a:t>
            </a:r>
          </a:p>
          <a:p>
            <a:pPr marL="0" rtl="0"/>
            <a:endParaRPr lang="en-US" sz="2800" b="1" dirty="0">
              <a:latin typeface="Times New Roman"/>
              <a:ea typeface="Neue Haas Grotesk Text Pro"/>
              <a:cs typeface="Neue Haas Grotesk Text Pro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K. Kanasaki et al., </a:t>
            </a:r>
            <a:r>
              <a:rPr lang="fr-FR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J. Diabetes Complications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38(5), 1073–1080, 2024.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a-DK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O. C. Elcioglu et al., </a:t>
            </a:r>
            <a:r>
              <a:rPr lang="da-DK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Kidney Int.</a:t>
            </a:r>
            <a:r>
              <a:rPr lang="da-DK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107(4), 745–752, 2025.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S. Jawad et al., </a:t>
            </a:r>
            <a:r>
              <a:rPr lang="en-I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Access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13, 34567–34578, 2025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Moreno-Sánchez et al., </a:t>
            </a:r>
            <a:r>
              <a:rPr lang="en-I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J. Transl. Eng. Health Med.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13, 56789–56800, 2025.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V. Puri et al., </a:t>
            </a:r>
            <a:r>
              <a:rPr lang="en-I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Proc. IEEE Int. Conf. Blockchain and Cryptocurrency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2025, pp. 1–8.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G. Bianchi et al., </a:t>
            </a:r>
            <a:r>
              <a:rPr lang="it-IT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Int. Urol. Nephrol.</a:t>
            </a:r>
            <a:r>
              <a:rPr lang="it-IT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57(6), 1123–1130, 2025.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Y. Zhao et al., </a:t>
            </a:r>
            <a:r>
              <a:rPr lang="en-I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Access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13, 12345–12356, 2025.</a:t>
            </a:r>
          </a:p>
          <a:p>
            <a:pPr marL="0" indent="-228600" rtl="0"/>
            <a:endParaRPr lang="en-US" dirty="0"/>
          </a:p>
          <a:p>
            <a:pPr algn="ctr"/>
            <a:endParaRPr lang="en-US" dirty="0">
              <a:ea typeface="Calibri"/>
              <a:cs typeface="Calibri"/>
            </a:endParaRPr>
          </a:p>
        </p:txBody>
      </p:sp>
      <p:sp>
        <p:nvSpPr>
          <p:cNvPr id="9" name="Freeform 5" descr="A logo for a company&#10;&#10;AI-generated content may be incorrect.">
            <a:extLst>
              <a:ext uri="{FF2B5EF4-FFF2-40B4-BE49-F238E27FC236}">
                <a16:creationId xmlns:a16="http://schemas.microsoft.com/office/drawing/2014/main" id="{2FC43484-840B-5FE2-E7BE-3AE0C6E7D052}"/>
              </a:ext>
            </a:extLst>
          </p:cNvPr>
          <p:cNvSpPr/>
          <p:nvPr/>
        </p:nvSpPr>
        <p:spPr>
          <a:xfrm>
            <a:off x="152401" y="152401"/>
            <a:ext cx="18288000" cy="2367724"/>
          </a:xfrm>
          <a:custGeom>
            <a:avLst/>
            <a:gdLst/>
            <a:ahLst/>
            <a:cxnLst/>
            <a:rect l="l" t="t" r="r" b="b"/>
            <a:pathLst>
              <a:path w="24384000" h="3156966">
                <a:moveTo>
                  <a:pt x="0" y="0"/>
                </a:moveTo>
                <a:lnTo>
                  <a:pt x="24384000" y="0"/>
                </a:lnTo>
                <a:lnTo>
                  <a:pt x="24384000" y="3156966"/>
                </a:lnTo>
                <a:lnTo>
                  <a:pt x="0" y="31569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232" b="-5232"/>
            </a:stretch>
          </a:blipFill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300621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5" descr="A logo for a company&#10;&#10;AI-generated content may be incorrect.">
            <a:extLst>
              <a:ext uri="{FF2B5EF4-FFF2-40B4-BE49-F238E27FC236}">
                <a16:creationId xmlns:a16="http://schemas.microsoft.com/office/drawing/2014/main" id="{77636F15-2124-DF9B-BE4D-588ECD163886}"/>
              </a:ext>
            </a:extLst>
          </p:cNvPr>
          <p:cNvSpPr/>
          <p:nvPr/>
        </p:nvSpPr>
        <p:spPr>
          <a:xfrm>
            <a:off x="1" y="1"/>
            <a:ext cx="18288000" cy="2367724"/>
          </a:xfrm>
          <a:custGeom>
            <a:avLst/>
            <a:gdLst/>
            <a:ahLst/>
            <a:cxnLst/>
            <a:rect l="l" t="t" r="r" b="b"/>
            <a:pathLst>
              <a:path w="24384000" h="3156966">
                <a:moveTo>
                  <a:pt x="0" y="0"/>
                </a:moveTo>
                <a:lnTo>
                  <a:pt x="24384000" y="0"/>
                </a:lnTo>
                <a:lnTo>
                  <a:pt x="24384000" y="3156966"/>
                </a:lnTo>
                <a:lnTo>
                  <a:pt x="0" y="31569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232" b="-5232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5" name="Freeform 5" descr="A logo for a company&#10;&#10;AI-generated content may be incorrect.">
            <a:extLst>
              <a:ext uri="{FF2B5EF4-FFF2-40B4-BE49-F238E27FC236}">
                <a16:creationId xmlns:a16="http://schemas.microsoft.com/office/drawing/2014/main" id="{0EC2D217-AD90-7CC4-7A03-64F835BDECD8}"/>
              </a:ext>
            </a:extLst>
          </p:cNvPr>
          <p:cNvSpPr/>
          <p:nvPr/>
        </p:nvSpPr>
        <p:spPr>
          <a:xfrm>
            <a:off x="152401" y="152401"/>
            <a:ext cx="18288000" cy="2367724"/>
          </a:xfrm>
          <a:custGeom>
            <a:avLst/>
            <a:gdLst/>
            <a:ahLst/>
            <a:cxnLst/>
            <a:rect l="l" t="t" r="r" b="b"/>
            <a:pathLst>
              <a:path w="24384000" h="3156966">
                <a:moveTo>
                  <a:pt x="0" y="0"/>
                </a:moveTo>
                <a:lnTo>
                  <a:pt x="24384000" y="0"/>
                </a:lnTo>
                <a:lnTo>
                  <a:pt x="24384000" y="3156966"/>
                </a:lnTo>
                <a:lnTo>
                  <a:pt x="0" y="31569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232" b="-5232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7" name="Freeform 3" descr="A purple rectangle with white text&#10;&#10;AI-generated content may be incorrect.">
            <a:extLst>
              <a:ext uri="{FF2B5EF4-FFF2-40B4-BE49-F238E27FC236}">
                <a16:creationId xmlns:a16="http://schemas.microsoft.com/office/drawing/2014/main" id="{3407E3A2-9A95-D39C-E58C-4D32F59C98A5}"/>
              </a:ext>
            </a:extLst>
          </p:cNvPr>
          <p:cNvSpPr/>
          <p:nvPr/>
        </p:nvSpPr>
        <p:spPr>
          <a:xfrm>
            <a:off x="1" y="8863030"/>
            <a:ext cx="18288000" cy="1523524"/>
          </a:xfrm>
          <a:custGeom>
            <a:avLst/>
            <a:gdLst/>
            <a:ahLst/>
            <a:cxnLst/>
            <a:rect l="l" t="t" r="r" b="b"/>
            <a:pathLst>
              <a:path w="24384000" h="2031365">
                <a:moveTo>
                  <a:pt x="0" y="0"/>
                </a:moveTo>
                <a:lnTo>
                  <a:pt x="24384000" y="0"/>
                </a:lnTo>
                <a:lnTo>
                  <a:pt x="24384000" y="2031365"/>
                </a:lnTo>
                <a:lnTo>
                  <a:pt x="0" y="20313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4460" b="-14460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C294EE-4894-5D36-F3E5-532026C8BCB5}"/>
              </a:ext>
            </a:extLst>
          </p:cNvPr>
          <p:cNvSpPr txBox="1"/>
          <p:nvPr/>
        </p:nvSpPr>
        <p:spPr>
          <a:xfrm>
            <a:off x="7305073" y="5113568"/>
            <a:ext cx="3900668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400" dirty="0">
                <a:latin typeface="Times New Roman"/>
                <a:ea typeface="Calibri"/>
                <a:cs typeface="Calibri"/>
              </a:rPr>
              <a:t>THANK YOU</a:t>
            </a:r>
            <a:endParaRPr lang="en-US" sz="4400" dirty="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5264956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1211</Words>
  <Application>Microsoft Office PowerPoint</Application>
  <PresentationFormat>Custom</PresentationFormat>
  <Paragraphs>159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Calibri</vt:lpstr>
      <vt:lpstr>Wingdings</vt:lpstr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Participant template</dc:title>
  <dc:creator>Naga lakshmi sura</dc:creator>
  <cp:lastModifiedBy>Naga lakshmi sura</cp:lastModifiedBy>
  <cp:revision>97</cp:revision>
  <dcterms:created xsi:type="dcterms:W3CDTF">2006-08-16T00:00:00Z</dcterms:created>
  <dcterms:modified xsi:type="dcterms:W3CDTF">2025-11-14T06:55:31Z</dcterms:modified>
  <dc:identifier>DAG4ZDko4pY</dc:identifier>
</cp:coreProperties>
</file>