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700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Review</a:t>
            </a:r>
            <a:r>
              <a:rPr spc="-60" dirty="0"/>
              <a:t> </a:t>
            </a:r>
            <a:r>
              <a:rPr spc="-25" dirty="0"/>
              <a:t>No.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Review</a:t>
            </a:r>
            <a:r>
              <a:rPr spc="-60" dirty="0"/>
              <a:t> </a:t>
            </a:r>
            <a:r>
              <a:rPr spc="-25" dirty="0"/>
              <a:t>No.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0453" y="1275714"/>
            <a:ext cx="4994910" cy="4387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Review</a:t>
            </a:r>
            <a:r>
              <a:rPr spc="-60" dirty="0"/>
              <a:t> </a:t>
            </a:r>
            <a:r>
              <a:rPr spc="-25" dirty="0"/>
              <a:t>No.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Review</a:t>
            </a:r>
            <a:r>
              <a:rPr spc="-60" dirty="0"/>
              <a:t> </a:t>
            </a:r>
            <a:r>
              <a:rPr spc="-25" dirty="0"/>
              <a:t>No.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Review</a:t>
            </a:r>
            <a:r>
              <a:rPr spc="-60" dirty="0"/>
              <a:t> </a:t>
            </a:r>
            <a:r>
              <a:rPr spc="-25" dirty="0"/>
              <a:t>No.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911" y="39623"/>
            <a:ext cx="3666744" cy="50292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92682" y="552399"/>
            <a:ext cx="9665970" cy="629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212841" y="1745742"/>
            <a:ext cx="6598284" cy="3378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30014" y="6448890"/>
            <a:ext cx="746760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Review</a:t>
            </a:r>
            <a:r>
              <a:rPr spc="-60" dirty="0"/>
              <a:t> </a:t>
            </a:r>
            <a:r>
              <a:rPr spc="-25" dirty="0"/>
              <a:t>No.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7244" y="6448890"/>
            <a:ext cx="727075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81639" y="6448890"/>
            <a:ext cx="235584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10979939" TargetMode="External"/><Relationship Id="rId2" Type="http://schemas.openxmlformats.org/officeDocument/2006/relationships/hyperlink" Target="https://ieeexplore.ieee.org/document/10856100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eeexplore.ieee.org/document/10883992" TargetMode="External"/><Relationship Id="rId5" Type="http://schemas.openxmlformats.org/officeDocument/2006/relationships/hyperlink" Target="https://ieeexplore.ieee.org/document/11008467" TargetMode="External"/><Relationship Id="rId4" Type="http://schemas.openxmlformats.org/officeDocument/2006/relationships/hyperlink" Target="https://ieeexplore.ieee.org/document/10914565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mailto:sk.basha579@gmail.com" TargetMode="External"/><Relationship Id="rId2" Type="http://schemas.openxmlformats.org/officeDocument/2006/relationships/hyperlink" Target="mailto:db2majorpro@gmail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skmastanvali5707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25346" y="622932"/>
            <a:ext cx="9531350" cy="1139413"/>
          </a:xfrm>
          <a:prstGeom prst="rect">
            <a:avLst/>
          </a:prstGeom>
        </p:spPr>
        <p:txBody>
          <a:bodyPr vert="horz" wrap="square" lIns="0" tIns="59054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464"/>
              </a:spcBef>
            </a:pPr>
            <a:r>
              <a:rPr sz="1800" dirty="0"/>
              <a:t>Department</a:t>
            </a:r>
            <a:r>
              <a:rPr sz="1800" spc="-5" dirty="0"/>
              <a:t> </a:t>
            </a:r>
            <a:r>
              <a:rPr sz="1800" dirty="0"/>
              <a:t>of</a:t>
            </a:r>
            <a:r>
              <a:rPr sz="1800" spc="-70" dirty="0"/>
              <a:t> </a:t>
            </a:r>
            <a:r>
              <a:rPr sz="1800" dirty="0"/>
              <a:t>Computer</a:t>
            </a:r>
            <a:r>
              <a:rPr sz="1800" spc="-35" dirty="0"/>
              <a:t> </a:t>
            </a:r>
            <a:r>
              <a:rPr sz="1800" dirty="0"/>
              <a:t>Science</a:t>
            </a:r>
            <a:r>
              <a:rPr sz="1800" spc="-35" dirty="0"/>
              <a:t> </a:t>
            </a:r>
            <a:r>
              <a:rPr sz="1800" dirty="0"/>
              <a:t>and</a:t>
            </a:r>
            <a:r>
              <a:rPr sz="1800" spc="-20" dirty="0"/>
              <a:t> </a:t>
            </a:r>
            <a:r>
              <a:rPr sz="1800" spc="-10" dirty="0"/>
              <a:t>Engineering</a:t>
            </a:r>
            <a:endParaRPr sz="1800" dirty="0"/>
          </a:p>
          <a:p>
            <a:pPr marL="12700" marR="5080" algn="ctr">
              <a:lnSpc>
                <a:spcPct val="100000"/>
              </a:lnSpc>
              <a:spcBef>
                <a:spcPts val="480"/>
              </a:spcBef>
            </a:pPr>
            <a:r>
              <a:rPr lang="en-US" sz="2400" dirty="0">
                <a:solidFill>
                  <a:srgbClr val="FF0000"/>
                </a:solidFill>
              </a:rPr>
              <a:t>ECHOES OF THE HIDDEN FILTER: INTERPRETABLE ENSEMBLE INTELLIGENCE FOR EARLY CKD PROGNOSIS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19165" y="1978533"/>
            <a:ext cx="1484630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dirty="0">
                <a:latin typeface="Times New Roman"/>
                <a:cs typeface="Times New Roman"/>
              </a:rPr>
              <a:t>PRESENTED</a:t>
            </a:r>
            <a:r>
              <a:rPr sz="1550" spc="135" dirty="0">
                <a:latin typeface="Times New Roman"/>
                <a:cs typeface="Times New Roman"/>
              </a:rPr>
              <a:t> </a:t>
            </a:r>
            <a:r>
              <a:rPr sz="1550" spc="-25" dirty="0">
                <a:latin typeface="Times New Roman"/>
                <a:cs typeface="Times New Roman"/>
              </a:rPr>
              <a:t>BY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38600" y="2302764"/>
            <a:ext cx="2743200" cy="103066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2100"/>
              </a:lnSpc>
              <a:spcBef>
                <a:spcPts val="95"/>
              </a:spcBef>
            </a:pPr>
            <a:r>
              <a:rPr sz="1550" dirty="0">
                <a:latin typeface="Times New Roman"/>
                <a:cs typeface="Times New Roman"/>
              </a:rPr>
              <a:t>S</a:t>
            </a:r>
            <a:r>
              <a:rPr lang="en-US" sz="1550" dirty="0">
                <a:latin typeface="Times New Roman"/>
                <a:cs typeface="Times New Roman"/>
              </a:rPr>
              <a:t>ura</a:t>
            </a:r>
            <a:r>
              <a:rPr sz="1550" spc="-35" dirty="0">
                <a:latin typeface="Times New Roman"/>
                <a:cs typeface="Times New Roman"/>
              </a:rPr>
              <a:t> </a:t>
            </a:r>
            <a:r>
              <a:rPr lang="en-US" sz="1550" spc="-35" dirty="0">
                <a:latin typeface="Times New Roman"/>
                <a:cs typeface="Times New Roman"/>
              </a:rPr>
              <a:t>Venkata Siva Naga Lakshmi</a:t>
            </a:r>
            <a:r>
              <a:rPr lang="en-IN" sz="1550" spc="-3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 </a:t>
            </a:r>
            <a:r>
              <a:rPr lang="en-US" sz="1550" spc="-10" dirty="0">
                <a:latin typeface="Times New Roman"/>
                <a:cs typeface="Times New Roman"/>
              </a:rPr>
              <a:t>Kolli Kaveri</a:t>
            </a:r>
            <a:endParaRPr sz="15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lang="en-US" sz="1550" spc="-10" dirty="0">
                <a:latin typeface="Times New Roman"/>
                <a:cs typeface="Times New Roman"/>
              </a:rPr>
              <a:t>Konda Pratyusha</a:t>
            </a:r>
            <a:r>
              <a:rPr sz="1550" spc="-10" dirty="0">
                <a:latin typeface="Times New Roman"/>
                <a:cs typeface="Times New Roman"/>
              </a:rPr>
              <a:t> </a:t>
            </a:r>
            <a:endParaRPr sz="155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48245" y="2302764"/>
            <a:ext cx="1241425" cy="9908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42000"/>
              </a:lnSpc>
              <a:spcBef>
                <a:spcPts val="100"/>
              </a:spcBef>
            </a:pPr>
            <a:r>
              <a:rPr sz="1550" spc="-10" dirty="0">
                <a:latin typeface="Times New Roman"/>
                <a:cs typeface="Times New Roman"/>
              </a:rPr>
              <a:t>(22471A05</a:t>
            </a:r>
            <a:r>
              <a:rPr lang="en-US" sz="1550" spc="-10" dirty="0">
                <a:latin typeface="Times New Roman"/>
                <a:cs typeface="Times New Roman"/>
              </a:rPr>
              <a:t>J9</a:t>
            </a:r>
            <a:r>
              <a:rPr sz="1550" spc="-10" dirty="0">
                <a:latin typeface="Times New Roman"/>
                <a:cs typeface="Times New Roman"/>
              </a:rPr>
              <a:t>) (22471A05</a:t>
            </a:r>
            <a:r>
              <a:rPr lang="en-US" sz="1550" spc="-10" dirty="0">
                <a:latin typeface="Times New Roman"/>
                <a:cs typeface="Times New Roman"/>
              </a:rPr>
              <a:t>G2</a:t>
            </a:r>
            <a:r>
              <a:rPr sz="1550" spc="-10" dirty="0">
                <a:latin typeface="Times New Roman"/>
                <a:cs typeface="Times New Roman"/>
              </a:rPr>
              <a:t>) (22471A05</a:t>
            </a:r>
            <a:r>
              <a:rPr lang="en-US" sz="1550" spc="-10" dirty="0">
                <a:latin typeface="Times New Roman"/>
                <a:cs typeface="Times New Roman"/>
              </a:rPr>
              <a:t>G3</a:t>
            </a:r>
            <a:r>
              <a:rPr sz="1550" spc="-10" dirty="0">
                <a:latin typeface="Times New Roman"/>
                <a:cs typeface="Times New Roman"/>
              </a:rPr>
              <a:t>)</a:t>
            </a:r>
            <a:endParaRPr sz="155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77359" y="3669233"/>
            <a:ext cx="4132579" cy="2209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6600"/>
                </a:solidFill>
                <a:latin typeface="Times New Roman"/>
                <a:cs typeface="Times New Roman"/>
              </a:rPr>
              <a:t>Under</a:t>
            </a:r>
            <a:r>
              <a:rPr sz="1800" spc="-15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6600"/>
                </a:solidFill>
                <a:latin typeface="Times New Roman"/>
                <a:cs typeface="Times New Roman"/>
              </a:rPr>
              <a:t>the</a:t>
            </a:r>
            <a:r>
              <a:rPr sz="1800" spc="-70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6600"/>
                </a:solidFill>
                <a:latin typeface="Times New Roman"/>
                <a:cs typeface="Times New Roman"/>
              </a:rPr>
              <a:t>Guidance</a:t>
            </a:r>
            <a:r>
              <a:rPr sz="1800" spc="-45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006600"/>
                </a:solidFill>
                <a:latin typeface="Times New Roman"/>
                <a:cs typeface="Times New Roman"/>
              </a:rPr>
              <a:t>of,</a:t>
            </a:r>
            <a:endParaRPr sz="1800" dirty="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  <a:spcBef>
                <a:spcPts val="1814"/>
              </a:spcBef>
            </a:pPr>
            <a:r>
              <a:rPr lang="en-US" sz="1550" b="1" spc="-15" dirty="0">
                <a:latin typeface="Times New Roman"/>
                <a:cs typeface="Times New Roman"/>
              </a:rPr>
              <a:t>Dodda</a:t>
            </a:r>
            <a:r>
              <a:rPr sz="1550" b="1" spc="-15" dirty="0">
                <a:latin typeface="Times New Roman"/>
                <a:cs typeface="Times New Roman"/>
              </a:rPr>
              <a:t> </a:t>
            </a:r>
            <a:r>
              <a:rPr lang="en-US" sz="1550" b="1" spc="-15" dirty="0">
                <a:latin typeface="Times New Roman"/>
                <a:cs typeface="Times New Roman"/>
              </a:rPr>
              <a:t>Venkata Reddy </a:t>
            </a:r>
            <a:r>
              <a:rPr sz="155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M.Tech</a:t>
            </a:r>
            <a:r>
              <a:rPr sz="1550" b="1" spc="-10" dirty="0">
                <a:latin typeface="Times New Roman"/>
                <a:cs typeface="Times New Roman"/>
              </a:rPr>
              <a:t>,</a:t>
            </a:r>
            <a:endParaRPr sz="1550" dirty="0">
              <a:latin typeface="Times New Roman"/>
              <a:cs typeface="Times New Roman"/>
            </a:endParaRPr>
          </a:p>
          <a:p>
            <a:pPr marL="3175" algn="ctr">
              <a:lnSpc>
                <a:spcPct val="100000"/>
              </a:lnSpc>
              <a:spcBef>
                <a:spcPts val="515"/>
              </a:spcBef>
            </a:pPr>
            <a:r>
              <a:rPr sz="1550" spc="-10" dirty="0">
                <a:solidFill>
                  <a:srgbClr val="878787"/>
                </a:solidFill>
                <a:latin typeface="Times New Roman"/>
                <a:cs typeface="Times New Roman"/>
              </a:rPr>
              <a:t>Assistant</a:t>
            </a:r>
            <a:r>
              <a:rPr sz="1550" spc="-60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878787"/>
                </a:solidFill>
                <a:latin typeface="Times New Roman"/>
                <a:cs typeface="Times New Roman"/>
              </a:rPr>
              <a:t>Professor,</a:t>
            </a:r>
            <a:endParaRPr sz="1550" dirty="0">
              <a:latin typeface="Times New Roman"/>
              <a:cs typeface="Times New Roman"/>
            </a:endParaRPr>
          </a:p>
          <a:p>
            <a:pPr marL="12700" marR="5080" indent="2540" algn="ctr">
              <a:lnSpc>
                <a:spcPts val="2880"/>
              </a:lnSpc>
              <a:spcBef>
                <a:spcPts val="245"/>
              </a:spcBef>
            </a:pPr>
            <a:r>
              <a:rPr sz="1550" dirty="0">
                <a:solidFill>
                  <a:srgbClr val="878787"/>
                </a:solidFill>
                <a:latin typeface="Times New Roman"/>
                <a:cs typeface="Times New Roman"/>
              </a:rPr>
              <a:t>Department</a:t>
            </a:r>
            <a:r>
              <a:rPr sz="1550" spc="40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78787"/>
                </a:solidFill>
                <a:latin typeface="Times New Roman"/>
                <a:cs typeface="Times New Roman"/>
              </a:rPr>
              <a:t>of</a:t>
            </a:r>
            <a:r>
              <a:rPr sz="1550" spc="155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78787"/>
                </a:solidFill>
                <a:latin typeface="Times New Roman"/>
                <a:cs typeface="Times New Roman"/>
              </a:rPr>
              <a:t>Computer</a:t>
            </a:r>
            <a:r>
              <a:rPr sz="1550" spc="95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78787"/>
                </a:solidFill>
                <a:latin typeface="Times New Roman"/>
                <a:cs typeface="Times New Roman"/>
              </a:rPr>
              <a:t>Science</a:t>
            </a:r>
            <a:r>
              <a:rPr sz="1550" spc="65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78787"/>
                </a:solidFill>
                <a:latin typeface="Times New Roman"/>
                <a:cs typeface="Times New Roman"/>
              </a:rPr>
              <a:t>and</a:t>
            </a:r>
            <a:r>
              <a:rPr sz="1550" spc="95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878787"/>
                </a:solidFill>
                <a:latin typeface="Times New Roman"/>
                <a:cs typeface="Times New Roman"/>
              </a:rPr>
              <a:t>Engineering, </a:t>
            </a:r>
            <a:r>
              <a:rPr sz="1550" dirty="0">
                <a:solidFill>
                  <a:srgbClr val="878787"/>
                </a:solidFill>
                <a:latin typeface="Times New Roman"/>
                <a:cs typeface="Times New Roman"/>
              </a:rPr>
              <a:t>Narasaraopeta</a:t>
            </a:r>
            <a:r>
              <a:rPr sz="1550" spc="110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78787"/>
                </a:solidFill>
                <a:latin typeface="Times New Roman"/>
                <a:cs typeface="Times New Roman"/>
              </a:rPr>
              <a:t>Engineering</a:t>
            </a:r>
            <a:r>
              <a:rPr sz="1550" spc="100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78787"/>
                </a:solidFill>
                <a:latin typeface="Times New Roman"/>
                <a:cs typeface="Times New Roman"/>
              </a:rPr>
              <a:t>College</a:t>
            </a:r>
            <a:r>
              <a:rPr sz="1550" spc="220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878787"/>
                </a:solidFill>
                <a:latin typeface="Times New Roman"/>
                <a:cs typeface="Times New Roman"/>
              </a:rPr>
              <a:t>(Autonomous),</a:t>
            </a:r>
            <a:endParaRPr sz="1550" dirty="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  <a:spcBef>
                <a:spcPts val="1115"/>
              </a:spcBef>
            </a:pPr>
            <a:r>
              <a:rPr sz="1550" dirty="0">
                <a:solidFill>
                  <a:srgbClr val="878787"/>
                </a:solidFill>
                <a:latin typeface="Times New Roman"/>
                <a:cs typeface="Times New Roman"/>
              </a:rPr>
              <a:t>Narasaraopet-</a:t>
            </a:r>
            <a:r>
              <a:rPr sz="1550" spc="90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78787"/>
                </a:solidFill>
                <a:latin typeface="Times New Roman"/>
                <a:cs typeface="Times New Roman"/>
              </a:rPr>
              <a:t>522</a:t>
            </a:r>
            <a:r>
              <a:rPr sz="1550" spc="120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550" spc="-20" dirty="0">
                <a:solidFill>
                  <a:srgbClr val="878787"/>
                </a:solidFill>
                <a:latin typeface="Times New Roman"/>
                <a:cs typeface="Times New Roman"/>
              </a:rPr>
              <a:t>601.</a:t>
            </a:r>
            <a:endParaRPr sz="1550" dirty="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143255"/>
            <a:ext cx="3648455" cy="50596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17244" y="6448890"/>
            <a:ext cx="91155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spc="-20" dirty="0">
                <a:solidFill>
                  <a:srgbClr val="878787"/>
                </a:solidFill>
                <a:latin typeface="Times New Roman"/>
                <a:cs typeface="Times New Roman"/>
              </a:rPr>
              <a:t>10-11-2025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Review</a:t>
            </a:r>
            <a:r>
              <a:rPr spc="-60" dirty="0"/>
              <a:t> </a:t>
            </a:r>
            <a:r>
              <a:rPr spc="-25" dirty="0"/>
              <a:t>No.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505958" y="6448890"/>
            <a:ext cx="22510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tabLst>
                <a:tab pos="1050290" algn="l"/>
              </a:tabLst>
            </a:pPr>
            <a:r>
              <a:rPr sz="1200" dirty="0">
                <a:solidFill>
                  <a:srgbClr val="878787"/>
                </a:solidFill>
                <a:latin typeface="Times New Roman"/>
                <a:cs typeface="Times New Roman"/>
              </a:rPr>
              <a:t>Batch</a:t>
            </a:r>
            <a:r>
              <a:rPr sz="1200" spc="-75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Times New Roman"/>
                <a:cs typeface="Times New Roman"/>
              </a:rPr>
              <a:t>No.</a:t>
            </a:r>
            <a:r>
              <a:rPr lang="en-US" sz="1200" spc="-10" dirty="0">
                <a:solidFill>
                  <a:srgbClr val="878787"/>
                </a:solidFill>
                <a:latin typeface="Times New Roman"/>
                <a:cs typeface="Times New Roman"/>
              </a:rPr>
              <a:t>CG7</a:t>
            </a:r>
            <a:r>
              <a:rPr sz="1200" dirty="0">
                <a:solidFill>
                  <a:srgbClr val="878787"/>
                </a:solidFill>
                <a:latin typeface="Times New Roman"/>
                <a:cs typeface="Times New Roman"/>
              </a:rPr>
              <a:t>	</a:t>
            </a:r>
            <a:r>
              <a:rPr sz="1200" spc="-20" dirty="0">
                <a:solidFill>
                  <a:srgbClr val="878787"/>
                </a:solidFill>
                <a:latin typeface="Times New Roman"/>
                <a:cs typeface="Times New Roman"/>
              </a:rPr>
              <a:t>Department </a:t>
            </a:r>
            <a:r>
              <a:rPr sz="1200" dirty="0">
                <a:solidFill>
                  <a:srgbClr val="878787"/>
                </a:solidFill>
                <a:latin typeface="Times New Roman"/>
                <a:cs typeface="Times New Roman"/>
              </a:rPr>
              <a:t>of</a:t>
            </a:r>
            <a:r>
              <a:rPr sz="1200" spc="70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78787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69890" y="515569"/>
            <a:ext cx="259842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OUTLINE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244" y="6448890"/>
            <a:ext cx="7270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1</a:t>
            </a:r>
            <a:r>
              <a:rPr lang="en-US" dirty="0"/>
              <a:t>0</a:t>
            </a:r>
            <a:r>
              <a:rPr dirty="0"/>
              <a:t>-1</a:t>
            </a:r>
            <a:r>
              <a:rPr lang="en-US" dirty="0"/>
              <a:t>1</a:t>
            </a:r>
            <a:r>
              <a:rPr dirty="0"/>
              <a:t>-</a:t>
            </a:r>
            <a:r>
              <a:rPr spc="-20" dirty="0"/>
              <a:t>202</a:t>
            </a:r>
            <a:r>
              <a:rPr lang="en-US" spc="-20" dirty="0"/>
              <a:t>5</a:t>
            </a: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Review</a:t>
            </a:r>
            <a:r>
              <a:rPr spc="-60" dirty="0"/>
              <a:t> </a:t>
            </a:r>
            <a:r>
              <a:rPr spc="-25" dirty="0"/>
              <a:t>No.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05958" y="6448890"/>
            <a:ext cx="22510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tabLst>
                <a:tab pos="1050290" algn="l"/>
              </a:tabLst>
            </a:pPr>
            <a:r>
              <a:rPr sz="1200" dirty="0">
                <a:solidFill>
                  <a:srgbClr val="878787"/>
                </a:solidFill>
                <a:latin typeface="Times New Roman"/>
                <a:cs typeface="Times New Roman"/>
              </a:rPr>
              <a:t>Batch</a:t>
            </a:r>
            <a:r>
              <a:rPr sz="1200" spc="-75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Times New Roman"/>
                <a:cs typeface="Times New Roman"/>
              </a:rPr>
              <a:t>No.</a:t>
            </a:r>
            <a:r>
              <a:rPr lang="en-US" sz="1200" spc="-10" dirty="0">
                <a:solidFill>
                  <a:srgbClr val="878787"/>
                </a:solidFill>
                <a:latin typeface="Times New Roman"/>
                <a:cs typeface="Times New Roman"/>
              </a:rPr>
              <a:t>CG7</a:t>
            </a:r>
            <a:r>
              <a:rPr sz="1200" dirty="0">
                <a:solidFill>
                  <a:srgbClr val="878787"/>
                </a:solidFill>
                <a:latin typeface="Times New Roman"/>
                <a:cs typeface="Times New Roman"/>
              </a:rPr>
              <a:t>	</a:t>
            </a:r>
            <a:r>
              <a:rPr sz="1200" spc="-20" dirty="0">
                <a:solidFill>
                  <a:srgbClr val="878787"/>
                </a:solidFill>
                <a:latin typeface="Times New Roman"/>
                <a:cs typeface="Times New Roman"/>
              </a:rPr>
              <a:t>Department </a:t>
            </a:r>
            <a:r>
              <a:rPr sz="1200" dirty="0">
                <a:solidFill>
                  <a:srgbClr val="878787"/>
                </a:solidFill>
                <a:latin typeface="Times New Roman"/>
                <a:cs typeface="Times New Roman"/>
              </a:rPr>
              <a:t>of</a:t>
            </a:r>
            <a:r>
              <a:rPr sz="1200" spc="70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78787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917244" y="1163566"/>
            <a:ext cx="3434715" cy="450469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527685" indent="-514984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527685" algn="l"/>
              </a:tabLst>
            </a:pPr>
            <a:r>
              <a:rPr sz="1800" spc="-10" dirty="0">
                <a:latin typeface="Times New Roman"/>
                <a:cs typeface="Times New Roman"/>
              </a:rPr>
              <a:t>Abstract</a:t>
            </a:r>
            <a:endParaRPr sz="180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405"/>
              </a:spcBef>
              <a:buAutoNum type="arabicPeriod"/>
              <a:tabLst>
                <a:tab pos="527685" algn="l"/>
              </a:tabLst>
            </a:pPr>
            <a:r>
              <a:rPr sz="1800" spc="-10" dirty="0">
                <a:latin typeface="Times New Roman"/>
                <a:cs typeface="Times New Roman"/>
              </a:rPr>
              <a:t>Introduction</a:t>
            </a:r>
            <a:endParaRPr sz="180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527685" algn="l"/>
              </a:tabLst>
            </a:pPr>
            <a:r>
              <a:rPr sz="1800" dirty="0">
                <a:latin typeface="Times New Roman"/>
                <a:cs typeface="Times New Roman"/>
              </a:rPr>
              <a:t>Literature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Survey</a:t>
            </a:r>
            <a:endParaRPr sz="180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385"/>
              </a:spcBef>
              <a:buAutoNum type="arabicPeriod"/>
              <a:tabLst>
                <a:tab pos="527685" algn="l"/>
              </a:tabLst>
            </a:pPr>
            <a:r>
              <a:rPr sz="1800" dirty="0">
                <a:latin typeface="Times New Roman"/>
                <a:cs typeface="Times New Roman"/>
              </a:rPr>
              <a:t>Research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Gaps</a:t>
            </a:r>
            <a:endParaRPr sz="180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527685" algn="l"/>
              </a:tabLst>
            </a:pPr>
            <a:r>
              <a:rPr sz="1800" dirty="0">
                <a:latin typeface="Times New Roman"/>
                <a:cs typeface="Times New Roman"/>
              </a:rPr>
              <a:t>Problem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Statement</a:t>
            </a:r>
            <a:endParaRPr sz="180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385"/>
              </a:spcBef>
              <a:buAutoNum type="arabicPeriod"/>
              <a:tabLst>
                <a:tab pos="527685" algn="l"/>
              </a:tabLst>
            </a:pPr>
            <a:r>
              <a:rPr sz="1800" spc="-10" dirty="0">
                <a:latin typeface="Times New Roman"/>
                <a:cs typeface="Times New Roman"/>
              </a:rPr>
              <a:t>Objectives</a:t>
            </a:r>
            <a:endParaRPr sz="180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527685" algn="l"/>
              </a:tabLst>
            </a:pPr>
            <a:r>
              <a:rPr sz="1800" dirty="0">
                <a:latin typeface="Times New Roman"/>
                <a:cs typeface="Times New Roman"/>
              </a:rPr>
              <a:t>Block</a:t>
            </a:r>
            <a:r>
              <a:rPr sz="1800" spc="-10" dirty="0">
                <a:latin typeface="Times New Roman"/>
                <a:cs typeface="Times New Roman"/>
              </a:rPr>
              <a:t> Diagram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/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Flow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Diagram</a:t>
            </a:r>
            <a:endParaRPr sz="180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405"/>
              </a:spcBef>
              <a:buAutoNum type="arabicPeriod"/>
              <a:tabLst>
                <a:tab pos="527685" algn="l"/>
              </a:tabLst>
            </a:pPr>
            <a:r>
              <a:rPr sz="1800" spc="-10" dirty="0">
                <a:latin typeface="Times New Roman"/>
                <a:cs typeface="Times New Roman"/>
              </a:rPr>
              <a:t>Methodology</a:t>
            </a:r>
            <a:endParaRPr sz="180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290"/>
              </a:spcBef>
              <a:buAutoNum type="arabicPeriod"/>
              <a:tabLst>
                <a:tab pos="527685" algn="l"/>
              </a:tabLst>
            </a:pPr>
            <a:r>
              <a:rPr sz="1800" spc="-10" dirty="0">
                <a:latin typeface="Times New Roman"/>
                <a:cs typeface="Times New Roman"/>
              </a:rPr>
              <a:t>Implementation</a:t>
            </a:r>
            <a:endParaRPr sz="180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409"/>
              </a:spcBef>
              <a:buAutoNum type="arabicPeriod"/>
              <a:tabLst>
                <a:tab pos="527685" algn="l"/>
              </a:tabLst>
            </a:pPr>
            <a:r>
              <a:rPr sz="1800" dirty="0">
                <a:latin typeface="Times New Roman"/>
                <a:cs typeface="Times New Roman"/>
              </a:rPr>
              <a:t>Results </a:t>
            </a:r>
            <a:r>
              <a:rPr sz="1800" spc="-20" dirty="0">
                <a:latin typeface="Times New Roman"/>
                <a:cs typeface="Times New Roman"/>
              </a:rPr>
              <a:t>and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Analysis</a:t>
            </a:r>
            <a:endParaRPr sz="180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290"/>
              </a:spcBef>
              <a:buAutoNum type="arabicPeriod"/>
              <a:tabLst>
                <a:tab pos="527685" algn="l"/>
              </a:tabLst>
            </a:pPr>
            <a:r>
              <a:rPr sz="1800" dirty="0">
                <a:latin typeface="Times New Roman"/>
                <a:cs typeface="Times New Roman"/>
              </a:rPr>
              <a:t>Conclusion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&amp;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Future</a:t>
            </a:r>
            <a:r>
              <a:rPr sz="1800" spc="-20" dirty="0">
                <a:latin typeface="Times New Roman"/>
                <a:cs typeface="Times New Roman"/>
              </a:rPr>
              <a:t> Scope</a:t>
            </a:r>
            <a:endParaRPr sz="180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409"/>
              </a:spcBef>
              <a:buAutoNum type="arabicPeriod"/>
              <a:tabLst>
                <a:tab pos="527685" algn="l"/>
              </a:tabLst>
            </a:pPr>
            <a:r>
              <a:rPr sz="1800" spc="-10" dirty="0">
                <a:latin typeface="Times New Roman"/>
                <a:cs typeface="Times New Roman"/>
              </a:rPr>
              <a:t>References</a:t>
            </a:r>
            <a:endParaRPr sz="180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290"/>
              </a:spcBef>
              <a:buAutoNum type="arabicPeriod"/>
              <a:tabLst>
                <a:tab pos="527685" algn="l"/>
              </a:tabLst>
            </a:pPr>
            <a:r>
              <a:rPr sz="1800" dirty="0">
                <a:latin typeface="Times New Roman"/>
                <a:cs typeface="Times New Roman"/>
              </a:rPr>
              <a:t>Question </a:t>
            </a:r>
            <a:r>
              <a:rPr sz="1800" spc="-25" dirty="0">
                <a:latin typeface="Times New Roman"/>
                <a:cs typeface="Times New Roman"/>
              </a:rPr>
              <a:t>and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Answers</a:t>
            </a:r>
            <a:endParaRPr sz="180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405"/>
              </a:spcBef>
              <a:buAutoNum type="arabicPeriod"/>
              <a:tabLst>
                <a:tab pos="527685" algn="l"/>
              </a:tabLst>
            </a:pPr>
            <a:r>
              <a:rPr sz="1800" spc="-10" dirty="0">
                <a:latin typeface="Times New Roman"/>
                <a:cs typeface="Times New Roman"/>
              </a:rPr>
              <a:t>Acknowledgements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5724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ABSTRACT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7244" y="6448890"/>
            <a:ext cx="74676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spc="-20" dirty="0">
                <a:solidFill>
                  <a:srgbClr val="878787"/>
                </a:solidFill>
                <a:latin typeface="Times New Roman"/>
                <a:cs typeface="Times New Roman"/>
              </a:rPr>
              <a:t>10-11-2025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Review</a:t>
            </a:r>
            <a:r>
              <a:rPr spc="-60" dirty="0"/>
              <a:t> </a:t>
            </a:r>
            <a:r>
              <a:rPr spc="-25" dirty="0"/>
              <a:t>No.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05958" y="6448890"/>
            <a:ext cx="1038224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78787"/>
                </a:solidFill>
                <a:latin typeface="Times New Roman"/>
                <a:cs typeface="Times New Roman"/>
              </a:rPr>
              <a:t>Batch</a:t>
            </a:r>
            <a:r>
              <a:rPr sz="1200" spc="-75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Times New Roman"/>
                <a:cs typeface="Times New Roman"/>
              </a:rPr>
              <a:t>No.</a:t>
            </a:r>
            <a:r>
              <a:rPr lang="en-US" sz="1200" spc="-10" dirty="0">
                <a:solidFill>
                  <a:srgbClr val="878787"/>
                </a:solidFill>
                <a:latin typeface="Times New Roman"/>
                <a:cs typeface="Times New Roman"/>
              </a:rPr>
              <a:t>CG7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44182" y="6448890"/>
            <a:ext cx="121285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0" dirty="0">
                <a:solidFill>
                  <a:srgbClr val="878787"/>
                </a:solidFill>
                <a:latin typeface="Times New Roman"/>
                <a:cs typeface="Times New Roman"/>
              </a:rPr>
              <a:t>Department </a:t>
            </a:r>
            <a:r>
              <a:rPr sz="1200" dirty="0">
                <a:solidFill>
                  <a:srgbClr val="878787"/>
                </a:solidFill>
                <a:latin typeface="Times New Roman"/>
                <a:cs typeface="Times New Roman"/>
              </a:rPr>
              <a:t>of</a:t>
            </a:r>
            <a:r>
              <a:rPr sz="1200" spc="70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78787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653725" y="1121490"/>
            <a:ext cx="10470515" cy="475322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Chronic Kidney Disease (CKD)</a:t>
            </a:r>
            <a:r>
              <a:rPr lang="en-US" sz="2200" dirty="0"/>
              <a:t> is gradual and often asymptomatic, usually undetected in early stages, especially in low-resource settings.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Proposes </a:t>
            </a:r>
            <a:r>
              <a:rPr lang="en-US" sz="2200" b="1" dirty="0"/>
              <a:t>“Echoes of the Hidden Filter”</a:t>
            </a:r>
            <a:r>
              <a:rPr lang="en-US" sz="2200" dirty="0"/>
              <a:t>, an </a:t>
            </a:r>
            <a:r>
              <a:rPr lang="en-US" sz="2200" b="1" dirty="0"/>
              <a:t>interpretable ensemble learning model</a:t>
            </a:r>
            <a:r>
              <a:rPr lang="en-US" sz="2200" dirty="0"/>
              <a:t> for proactive CKD prediction.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Combines </a:t>
            </a:r>
            <a:r>
              <a:rPr lang="en-US" sz="2200" b="1" dirty="0"/>
              <a:t>Random Forest, XGBoost, SVM, and ANN</a:t>
            </a:r>
            <a:r>
              <a:rPr lang="en-US" sz="2200" dirty="0"/>
              <a:t> using </a:t>
            </a:r>
            <a:r>
              <a:rPr lang="en-US" sz="2200" b="1" dirty="0"/>
              <a:t>hybrid stacking and majority voting</a:t>
            </a:r>
            <a:r>
              <a:rPr lang="en-US" sz="2200" dirty="0"/>
              <a:t> for robust accuracy.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Applies </a:t>
            </a:r>
            <a:r>
              <a:rPr lang="en-US" sz="2200" b="1" dirty="0"/>
              <a:t>SHAP</a:t>
            </a:r>
            <a:r>
              <a:rPr lang="en-US" sz="2200" dirty="0"/>
              <a:t> and </a:t>
            </a:r>
            <a:r>
              <a:rPr lang="en-US" sz="2200" b="1" dirty="0"/>
              <a:t>LIME</a:t>
            </a:r>
            <a:r>
              <a:rPr lang="en-US" sz="2200" dirty="0"/>
              <a:t> to provide </a:t>
            </a:r>
            <a:r>
              <a:rPr lang="en-US" sz="2200" b="1" dirty="0"/>
              <a:t>global and local interpretability</a:t>
            </a:r>
            <a:r>
              <a:rPr lang="en-US" sz="2200" dirty="0"/>
              <a:t>, highlighting biomarkers like </a:t>
            </a:r>
            <a:r>
              <a:rPr lang="en-US" sz="2200" b="1" dirty="0"/>
              <a:t>eGFR</a:t>
            </a:r>
            <a:r>
              <a:rPr lang="en-US" sz="2200" dirty="0"/>
              <a:t>, </a:t>
            </a:r>
            <a:r>
              <a:rPr lang="en-US" sz="2200" b="1" dirty="0"/>
              <a:t>creatinine</a:t>
            </a:r>
            <a:r>
              <a:rPr lang="en-US" sz="2200" dirty="0"/>
              <a:t>, and </a:t>
            </a:r>
            <a:r>
              <a:rPr lang="en-US" sz="2200" b="1" dirty="0"/>
              <a:t>cystatin-C</a:t>
            </a:r>
            <a:r>
              <a:rPr lang="en-US" sz="22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Uses </a:t>
            </a:r>
            <a:r>
              <a:rPr lang="en-US" sz="2200" b="1" dirty="0"/>
              <a:t>regression-based imputation</a:t>
            </a:r>
            <a:r>
              <a:rPr lang="en-US" sz="2200" dirty="0"/>
              <a:t>, </a:t>
            </a:r>
            <a:r>
              <a:rPr lang="en-US" sz="2200" b="1" dirty="0"/>
              <a:t>variance-thresholding</a:t>
            </a:r>
            <a:r>
              <a:rPr lang="en-US" sz="2200" dirty="0"/>
              <a:t>, and </a:t>
            </a:r>
            <a:r>
              <a:rPr lang="en-US" sz="2200" b="1" dirty="0"/>
              <a:t>dynamic SMOTE</a:t>
            </a:r>
            <a:r>
              <a:rPr lang="en-US" sz="2200" dirty="0"/>
              <a:t> to handle missing data and class imbalance.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Outperforms individual classifiers</a:t>
            </a:r>
            <a:r>
              <a:rPr lang="en-US" sz="2200" dirty="0"/>
              <a:t> in </a:t>
            </a:r>
            <a:r>
              <a:rPr lang="en-US" sz="2200" b="1" dirty="0"/>
              <a:t>accuracy, precision, recall, and F1-score</a:t>
            </a:r>
            <a:r>
              <a:rPr lang="en-US" sz="2200" dirty="0"/>
              <a:t> on real CKD datasets.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Bridges </a:t>
            </a:r>
            <a:r>
              <a:rPr lang="en-US" sz="2200" b="1" dirty="0"/>
              <a:t>black-box AI</a:t>
            </a:r>
            <a:r>
              <a:rPr lang="en-US" sz="2200" dirty="0"/>
              <a:t> and </a:t>
            </a:r>
            <a:r>
              <a:rPr lang="en-US" sz="2200" b="1" dirty="0"/>
              <a:t>clinical usability</a:t>
            </a:r>
            <a:r>
              <a:rPr lang="en-US" sz="2200" dirty="0"/>
              <a:t>, offering a </a:t>
            </a:r>
            <a:r>
              <a:rPr lang="en-US" sz="2200" b="1" dirty="0"/>
              <a:t>scalable and explainable model</a:t>
            </a:r>
            <a:r>
              <a:rPr lang="en-US" sz="2200" dirty="0"/>
              <a:t> for population-level CKD screening.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3740" y="444830"/>
            <a:ext cx="448564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pc="-10"/>
              <a:t>INTRODUCTION</a:t>
            </a:r>
            <a:endParaRPr lang="en-IN" spc="-10" dirty="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244" y="6448890"/>
            <a:ext cx="7270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dirty="0"/>
              <a:t>10-11-</a:t>
            </a:r>
            <a:r>
              <a:rPr lang="en-IN" spc="-20" dirty="0"/>
              <a:t>2025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/>
              <a:t>Review</a:t>
            </a:r>
            <a:r>
              <a:rPr lang="en-IN" spc="-60"/>
              <a:t> </a:t>
            </a:r>
            <a:r>
              <a:rPr lang="en-IN" spc="-25"/>
              <a:t>No.</a:t>
            </a:r>
            <a:endParaRPr lang="en-IN"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5505958" y="6448890"/>
            <a:ext cx="22510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tabLst>
                <a:tab pos="1050290" algn="l"/>
              </a:tabLst>
            </a:pPr>
            <a:r>
              <a:rPr sz="1200" dirty="0">
                <a:solidFill>
                  <a:srgbClr val="878787"/>
                </a:solidFill>
                <a:latin typeface="Times New Roman"/>
                <a:cs typeface="Times New Roman"/>
              </a:rPr>
              <a:t>Batch</a:t>
            </a:r>
            <a:r>
              <a:rPr sz="1200" spc="-75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Times New Roman"/>
                <a:cs typeface="Times New Roman"/>
              </a:rPr>
              <a:t>No.</a:t>
            </a:r>
            <a:r>
              <a:rPr lang="en-US" sz="1200" spc="-10" dirty="0">
                <a:solidFill>
                  <a:srgbClr val="878787"/>
                </a:solidFill>
                <a:latin typeface="Times New Roman"/>
                <a:cs typeface="Times New Roman"/>
              </a:rPr>
              <a:t>CG7</a:t>
            </a:r>
            <a:r>
              <a:rPr sz="1200" dirty="0">
                <a:solidFill>
                  <a:srgbClr val="878787"/>
                </a:solidFill>
                <a:latin typeface="Times New Roman"/>
                <a:cs typeface="Times New Roman"/>
              </a:rPr>
              <a:t>	</a:t>
            </a:r>
            <a:r>
              <a:rPr sz="1200" spc="-20" dirty="0">
                <a:solidFill>
                  <a:srgbClr val="878787"/>
                </a:solidFill>
                <a:latin typeface="Times New Roman"/>
                <a:cs typeface="Times New Roman"/>
              </a:rPr>
              <a:t>Department </a:t>
            </a:r>
            <a:r>
              <a:rPr sz="1200" dirty="0">
                <a:solidFill>
                  <a:srgbClr val="878787"/>
                </a:solidFill>
                <a:latin typeface="Times New Roman"/>
                <a:cs typeface="Times New Roman"/>
              </a:rPr>
              <a:t>of</a:t>
            </a:r>
            <a:r>
              <a:rPr sz="1200" spc="70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78787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lang="en-IN" spc="-25" smtClean="0"/>
              <a:t>4</a:t>
            </a:fld>
            <a:endParaRPr lang="en-IN"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50849" y="1220546"/>
            <a:ext cx="11003915" cy="50924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sz="2200" b="1" dirty="0">
                <a:latin typeface="Times New Roman"/>
                <a:cs typeface="Times New Roman"/>
              </a:rPr>
              <a:t>Brief</a:t>
            </a:r>
            <a:r>
              <a:rPr lang="en-US" sz="2200" b="1" spc="-50" dirty="0">
                <a:latin typeface="Times New Roman"/>
                <a:cs typeface="Times New Roman"/>
              </a:rPr>
              <a:t> </a:t>
            </a:r>
            <a:r>
              <a:rPr lang="en-US" sz="2200" b="1" dirty="0">
                <a:latin typeface="Times New Roman"/>
                <a:cs typeface="Times New Roman"/>
              </a:rPr>
              <a:t>Introduction</a:t>
            </a:r>
            <a:r>
              <a:rPr lang="en-US" sz="2200" b="1" spc="-40" dirty="0">
                <a:latin typeface="Times New Roman"/>
                <a:cs typeface="Times New Roman"/>
              </a:rPr>
              <a:t> </a:t>
            </a:r>
            <a:r>
              <a:rPr lang="en-US" sz="2200" b="1" dirty="0">
                <a:latin typeface="Times New Roman"/>
                <a:cs typeface="Times New Roman"/>
              </a:rPr>
              <a:t>to</a:t>
            </a:r>
            <a:r>
              <a:rPr lang="en-US" sz="2200" b="1" spc="-20" dirty="0">
                <a:latin typeface="Times New Roman"/>
                <a:cs typeface="Times New Roman"/>
              </a:rPr>
              <a:t> </a:t>
            </a:r>
            <a:r>
              <a:rPr lang="en-US" sz="2200" b="1" dirty="0">
                <a:latin typeface="Times New Roman"/>
                <a:cs typeface="Times New Roman"/>
              </a:rPr>
              <a:t>the</a:t>
            </a:r>
            <a:r>
              <a:rPr lang="en-US" sz="2200" b="1" spc="5" dirty="0">
                <a:latin typeface="Times New Roman"/>
                <a:cs typeface="Times New Roman"/>
              </a:rPr>
              <a:t> </a:t>
            </a:r>
            <a:r>
              <a:rPr lang="en-US" sz="2200" b="1" spc="-10" dirty="0" err="1">
                <a:latin typeface="Times New Roman"/>
                <a:cs typeface="Times New Roman"/>
              </a:rPr>
              <a:t>Projec</a:t>
            </a:r>
            <a:r>
              <a:rPr lang="en-IN" sz="2200" b="1" spc="-10" dirty="0">
                <a:latin typeface="Times New Roman"/>
                <a:cs typeface="Times New Roman"/>
              </a:rPr>
              <a:t>t</a:t>
            </a:r>
            <a:endParaRPr lang="en-US" sz="22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lang="en-US" sz="2200" spc="-10" dirty="0">
                <a:latin typeface="Times New Roman"/>
                <a:cs typeface="Times New Roman"/>
              </a:rPr>
              <a:t>Chronic Kidney Disease (CKD) affects nearly 10% of the global population.</a:t>
            </a:r>
            <a:endParaRPr lang="en-US" sz="22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  <a:tab pos="1728470" algn="l"/>
                <a:tab pos="2237740" algn="l"/>
                <a:tab pos="3380740" algn="l"/>
                <a:tab pos="3777615" algn="l"/>
                <a:tab pos="5219700" algn="l"/>
                <a:tab pos="5774055" algn="l"/>
                <a:tab pos="6978650" algn="l"/>
                <a:tab pos="7515225" algn="l"/>
                <a:tab pos="8488045" algn="l"/>
                <a:tab pos="9316720" algn="l"/>
                <a:tab pos="9902190" algn="l"/>
              </a:tabLst>
            </a:pPr>
            <a:r>
              <a:rPr lang="en-US" sz="2200" spc="-10" dirty="0">
                <a:latin typeface="Times New Roman"/>
                <a:cs typeface="Times New Roman"/>
              </a:rPr>
              <a:t>The </a:t>
            </a:r>
            <a:r>
              <a:rPr lang="en-US" sz="2200" spc="-10" dirty="0" err="1">
                <a:latin typeface="Times New Roman"/>
                <a:cs typeface="Times New Roman"/>
              </a:rPr>
              <a:t>disesase</a:t>
            </a:r>
            <a:r>
              <a:rPr lang="en-US" sz="2200" spc="-10" dirty="0">
                <a:latin typeface="Times New Roman"/>
                <a:cs typeface="Times New Roman"/>
              </a:rPr>
              <a:t> is often asymptomatic in early stages , leading to late diagnosis and poor </a:t>
            </a:r>
            <a:r>
              <a:rPr lang="en-US" sz="2200" spc="-10" dirty="0" err="1">
                <a:latin typeface="Times New Roman"/>
                <a:cs typeface="Times New Roman"/>
              </a:rPr>
              <a:t>tratement</a:t>
            </a:r>
            <a:r>
              <a:rPr lang="en-US" sz="2200" spc="-10" dirty="0">
                <a:latin typeface="Times New Roman"/>
                <a:cs typeface="Times New Roman"/>
              </a:rPr>
              <a:t> outcomes.</a:t>
            </a:r>
            <a:endParaRPr lang="en-US" sz="2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lang="en-US" sz="2200" b="1" dirty="0">
                <a:latin typeface="Times New Roman"/>
                <a:cs typeface="Times New Roman"/>
              </a:rPr>
              <a:t>Motivation</a:t>
            </a:r>
            <a:r>
              <a:rPr lang="en-US" sz="2200" b="1" spc="-65" dirty="0">
                <a:latin typeface="Times New Roman"/>
                <a:cs typeface="Times New Roman"/>
              </a:rPr>
              <a:t> </a:t>
            </a:r>
            <a:r>
              <a:rPr lang="en-US" sz="2200" b="1" dirty="0">
                <a:latin typeface="Times New Roman"/>
                <a:cs typeface="Times New Roman"/>
              </a:rPr>
              <a:t>Behind</a:t>
            </a:r>
            <a:r>
              <a:rPr lang="en-US" sz="2200" b="1" spc="-40" dirty="0">
                <a:latin typeface="Times New Roman"/>
                <a:cs typeface="Times New Roman"/>
              </a:rPr>
              <a:t> </a:t>
            </a:r>
            <a:r>
              <a:rPr lang="en-US" sz="2200" b="1" dirty="0">
                <a:latin typeface="Times New Roman"/>
                <a:cs typeface="Times New Roman"/>
              </a:rPr>
              <a:t>the</a:t>
            </a:r>
            <a:r>
              <a:rPr lang="en-US" sz="2200" b="1" spc="10" dirty="0">
                <a:latin typeface="Times New Roman"/>
                <a:cs typeface="Times New Roman"/>
              </a:rPr>
              <a:t> </a:t>
            </a:r>
            <a:r>
              <a:rPr lang="en-US" sz="2200" b="1" spc="-10" dirty="0">
                <a:latin typeface="Times New Roman"/>
                <a:cs typeface="Times New Roman"/>
              </a:rPr>
              <a:t>Project</a:t>
            </a:r>
            <a:endParaRPr lang="en-US" sz="22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69265" algn="l"/>
              </a:tabLst>
            </a:pPr>
            <a:r>
              <a:rPr lang="en-US" sz="2200" dirty="0"/>
              <a:t>Traditional diagnostic tests like </a:t>
            </a:r>
            <a:r>
              <a:rPr lang="en-US" sz="2200" b="1" dirty="0"/>
              <a:t>creatinine</a:t>
            </a:r>
            <a:r>
              <a:rPr lang="en-US" sz="2200" dirty="0"/>
              <a:t> and </a:t>
            </a:r>
            <a:r>
              <a:rPr lang="en-US" sz="2200" b="1" dirty="0"/>
              <a:t>eGFR</a:t>
            </a:r>
            <a:r>
              <a:rPr lang="en-US" sz="2200" dirty="0"/>
              <a:t> detect CKD only after organ damage</a:t>
            </a:r>
            <a:r>
              <a:rPr lang="en-US" sz="2200" spc="-10" dirty="0">
                <a:latin typeface="Times New Roman"/>
                <a:cs typeface="Times New Roman"/>
              </a:rPr>
              <a:t>.</a:t>
            </a:r>
            <a:endParaRPr lang="en-US" sz="22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lang="en-US" sz="2200" b="1" dirty="0"/>
              <a:t>Explainable AI (XAI)</a:t>
            </a:r>
            <a:r>
              <a:rPr lang="en-US" sz="2200" dirty="0"/>
              <a:t> methods such as </a:t>
            </a:r>
            <a:r>
              <a:rPr lang="en-US" sz="2200" b="1" dirty="0"/>
              <a:t>SHAP</a:t>
            </a:r>
            <a:r>
              <a:rPr lang="en-US" sz="2200" dirty="0"/>
              <a:t> and </a:t>
            </a:r>
            <a:r>
              <a:rPr lang="en-US" sz="2200" b="1" dirty="0"/>
              <a:t>LIME</a:t>
            </a:r>
            <a:r>
              <a:rPr lang="en-US" sz="2200" dirty="0"/>
              <a:t> improve </a:t>
            </a:r>
            <a:r>
              <a:rPr lang="en-US" sz="2200" b="1" dirty="0"/>
              <a:t>transparency and trust</a:t>
            </a:r>
            <a:r>
              <a:rPr lang="en-US" sz="2200" dirty="0"/>
              <a:t>, helping clinicians understand AI-driven predictions</a:t>
            </a:r>
            <a:r>
              <a:rPr lang="en-US" sz="2200" spc="-10" dirty="0">
                <a:latin typeface="Times New Roman"/>
                <a:cs typeface="Times New Roman"/>
              </a:rPr>
              <a:t>.</a:t>
            </a:r>
            <a:endParaRPr lang="en-US" sz="2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sz="2200" b="1" dirty="0">
                <a:latin typeface="Times New Roman"/>
                <a:cs typeface="Times New Roman"/>
              </a:rPr>
              <a:t>Importance</a:t>
            </a:r>
            <a:r>
              <a:rPr lang="en-US" sz="2200" b="1" spc="-55" dirty="0">
                <a:latin typeface="Times New Roman"/>
                <a:cs typeface="Times New Roman"/>
              </a:rPr>
              <a:t> </a:t>
            </a:r>
            <a:r>
              <a:rPr lang="en-US" sz="2200" b="1" dirty="0">
                <a:latin typeface="Times New Roman"/>
                <a:cs typeface="Times New Roman"/>
              </a:rPr>
              <a:t>and </a:t>
            </a:r>
            <a:r>
              <a:rPr lang="en-US" sz="2200" b="1" spc="-10" dirty="0">
                <a:latin typeface="Times New Roman"/>
                <a:cs typeface="Times New Roman"/>
              </a:rPr>
              <a:t>Relevance</a:t>
            </a:r>
            <a:endParaRPr lang="en-US" sz="22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lang="en-US" sz="2200" dirty="0"/>
              <a:t>The proposed model, </a:t>
            </a:r>
            <a:r>
              <a:rPr lang="en-US" sz="2200" b="1" dirty="0"/>
              <a:t>“Echoes of the Hidden Filter,”</a:t>
            </a:r>
            <a:r>
              <a:rPr lang="en-US" sz="2200" dirty="0"/>
              <a:t> combines </a:t>
            </a:r>
            <a:r>
              <a:rPr lang="en-US" sz="2200" b="1" dirty="0"/>
              <a:t>robust preprocessing</a:t>
            </a:r>
            <a:r>
              <a:rPr lang="en-US" sz="2200" dirty="0"/>
              <a:t>, </a:t>
            </a:r>
            <a:r>
              <a:rPr lang="en-US" sz="2200" b="1" dirty="0"/>
              <a:t>variance-based feature selection</a:t>
            </a:r>
            <a:r>
              <a:rPr lang="en-US" sz="2200" dirty="0"/>
              <a:t>, </a:t>
            </a:r>
            <a:r>
              <a:rPr lang="en-US" sz="2200" b="1" dirty="0"/>
              <a:t>SMOTE class balancing</a:t>
            </a:r>
            <a:r>
              <a:rPr lang="en-US" sz="2200" dirty="0"/>
              <a:t>, and </a:t>
            </a:r>
            <a:r>
              <a:rPr lang="en-US" sz="2200" b="1" dirty="0"/>
              <a:t>stacking ensembles</a:t>
            </a:r>
            <a:r>
              <a:rPr lang="en-US" sz="2200" dirty="0"/>
              <a:t> with interpretability modules.</a:t>
            </a:r>
            <a:endParaRPr lang="en-US" sz="22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lang="en-US" sz="2200" dirty="0"/>
              <a:t>The goal is to </a:t>
            </a:r>
            <a:r>
              <a:rPr lang="en-US" sz="2200" b="1" dirty="0"/>
              <a:t>bridge high predictive performance with clinical explainability</a:t>
            </a:r>
            <a:r>
              <a:rPr lang="en-US" sz="2200" dirty="0"/>
              <a:t>, offering a </a:t>
            </a:r>
            <a:r>
              <a:rPr lang="en-US" sz="2200" b="1" dirty="0"/>
              <a:t>trustworthy and actionable tool</a:t>
            </a:r>
            <a:r>
              <a:rPr lang="en-US" sz="2200" dirty="0"/>
              <a:t> for early CKD prognosis.</a:t>
            </a:r>
            <a:endParaRPr lang="en-US" sz="2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00120" y="268935"/>
            <a:ext cx="551434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50" spc="-10" dirty="0"/>
              <a:t>LITERATURE</a:t>
            </a:r>
            <a:r>
              <a:rPr sz="3950" spc="-160" dirty="0"/>
              <a:t> </a:t>
            </a:r>
            <a:r>
              <a:rPr sz="3950" spc="-10" dirty="0"/>
              <a:t>SURVEY</a:t>
            </a:r>
            <a:endParaRPr sz="395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244" y="6448890"/>
            <a:ext cx="7270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1</a:t>
            </a:r>
            <a:r>
              <a:rPr lang="en-US" dirty="0"/>
              <a:t>0</a:t>
            </a:r>
            <a:r>
              <a:rPr dirty="0"/>
              <a:t>-1</a:t>
            </a:r>
            <a:r>
              <a:rPr lang="en-US" dirty="0"/>
              <a:t>1</a:t>
            </a:r>
            <a:r>
              <a:rPr dirty="0"/>
              <a:t>-</a:t>
            </a:r>
            <a:r>
              <a:rPr spc="-20" dirty="0"/>
              <a:t>202</a:t>
            </a:r>
            <a:r>
              <a:rPr lang="en-US" spc="-20" dirty="0"/>
              <a:t>5</a:t>
            </a: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Review</a:t>
            </a:r>
            <a:r>
              <a:rPr spc="-60" dirty="0"/>
              <a:t> </a:t>
            </a:r>
            <a:r>
              <a:rPr spc="-25" dirty="0"/>
              <a:t>No.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05958" y="6448890"/>
            <a:ext cx="22510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tabLst>
                <a:tab pos="1050290" algn="l"/>
              </a:tabLst>
            </a:pPr>
            <a:r>
              <a:rPr sz="1200" dirty="0">
                <a:solidFill>
                  <a:srgbClr val="878787"/>
                </a:solidFill>
                <a:latin typeface="Times New Roman"/>
                <a:cs typeface="Times New Roman"/>
              </a:rPr>
              <a:t>Batch</a:t>
            </a:r>
            <a:r>
              <a:rPr sz="1200" spc="-75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Times New Roman"/>
                <a:cs typeface="Times New Roman"/>
              </a:rPr>
              <a:t>No.</a:t>
            </a:r>
            <a:r>
              <a:rPr lang="en-US" sz="1200" spc="-10" dirty="0">
                <a:solidFill>
                  <a:srgbClr val="878787"/>
                </a:solidFill>
                <a:latin typeface="Times New Roman"/>
                <a:cs typeface="Times New Roman"/>
              </a:rPr>
              <a:t>CG7</a:t>
            </a:r>
            <a:r>
              <a:rPr sz="1200" dirty="0">
                <a:solidFill>
                  <a:srgbClr val="878787"/>
                </a:solidFill>
                <a:latin typeface="Times New Roman"/>
                <a:cs typeface="Times New Roman"/>
              </a:rPr>
              <a:t>	</a:t>
            </a:r>
            <a:r>
              <a:rPr sz="1200" spc="-20" dirty="0">
                <a:solidFill>
                  <a:srgbClr val="878787"/>
                </a:solidFill>
                <a:latin typeface="Times New Roman"/>
                <a:cs typeface="Times New Roman"/>
              </a:rPr>
              <a:t>Department </a:t>
            </a:r>
            <a:r>
              <a:rPr sz="1200" dirty="0">
                <a:solidFill>
                  <a:srgbClr val="878787"/>
                </a:solidFill>
                <a:latin typeface="Times New Roman"/>
                <a:cs typeface="Times New Roman"/>
              </a:rPr>
              <a:t>of</a:t>
            </a:r>
            <a:r>
              <a:rPr sz="1200" spc="70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78787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1859619"/>
              </p:ext>
            </p:extLst>
          </p:nvPr>
        </p:nvGraphicFramePr>
        <p:xfrm>
          <a:off x="228600" y="884773"/>
          <a:ext cx="11430000" cy="54082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26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5295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71132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7653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99326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63322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631315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678815"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lang="en-IN" sz="1000" b="1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000" b="1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51562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00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r>
                        <a:rPr lang="en-US" sz="100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&amp;</a:t>
                      </a:r>
                    </a:p>
                    <a:p>
                      <a:pPr marL="51562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lang="en-US" sz="100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Year</a:t>
                      </a: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</a:t>
                      </a:r>
                      <a:r>
                        <a:rPr sz="1000" b="1" spc="8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r>
                        <a:rPr sz="1000" b="1" spc="6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R="7429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R="123825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00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R="10223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00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Adapted</a:t>
                      </a:r>
                      <a:endParaRPr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</a:t>
                      </a:r>
                      <a:r>
                        <a:rPr sz="1000" b="1" spc="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00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Findings</a:t>
                      </a:r>
                      <a:endParaRPr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000" b="1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Gaps</a:t>
                      </a:r>
                      <a:endParaRPr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06743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0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525" marR="501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US" sz="100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 Study on the Application of Explainable AI on Ensemble Models for Predictive Analysis of Chronic Kidney Disease</a:t>
                      </a: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endParaRPr lang="en-IN" sz="100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lang="en-IN" sz="100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K.M. </a:t>
                      </a:r>
                      <a:r>
                        <a:rPr lang="en-IN" sz="1000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Tawsik</a:t>
                      </a:r>
                      <a:r>
                        <a:rPr lang="en-IN" sz="100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Jawad et al., 2025, IEEE </a:t>
                      </a: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0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IN" sz="1000" i="0" u="sng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hlinkClick r:id="rId2"/>
                        </a:rPr>
                        <a:t>https://ieeexplore.ieee.org/document/10856100</a:t>
                      </a: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endParaRPr 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07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imputed via regression, balanced with SMOTE, features selected (IG, RFE, Variance), significance via Logit, correlated features filtered.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1430" algn="l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IN" sz="100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LIME, SHAP, ALE, PDP applied for model interpretability</a:t>
                      </a:r>
                      <a:br>
                        <a:rPr lang="en-IN" sz="100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20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US" sz="100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High missing data</a:t>
                      </a:r>
                      <a:br>
                        <a:rPr lang="en-US" sz="100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8350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0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lang="en-US" sz="100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Machine Learning Framework for Early Detection of Chronic Kidney Disease Stages Using Optimized Estimated Glomerular Filtration Rate</a:t>
                      </a: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174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lang="en-IN" sz="100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Samit Kumar Ghosh et al., 2025, IEEE </a:t>
                      </a: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0160" marR="41910">
                        <a:lnSpc>
                          <a:spcPct val="100000"/>
                        </a:lnSpc>
                      </a:pPr>
                      <a:r>
                        <a:rPr lang="en-IN" sz="1000" i="0" u="sng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hlinkClick r:id="rId3"/>
                        </a:rPr>
                        <a:t>https://ieeexplore.ieee.org/document/10979939</a:t>
                      </a: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174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normalized and encoded, features selected via VIF and Pearson correlation, class imbalance handled with SMOTE, Z-score normalization applied.</a:t>
                      </a: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174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SHAP provided model explainability and feature importance</a:t>
                      </a:r>
                    </a:p>
                  </a:txBody>
                  <a:tcPr marL="0" marR="0" marT="1174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Absence of confirmatory tests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0648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0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endParaRPr lang="en-US" sz="100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lang="en-US" sz="100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Privacy-First ML for Chronic Kidney Disease Prediction: Exploring a Decentralized Approach Using Blockchain and IPFS</a:t>
                      </a: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lang="it-IT" sz="100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Vikram Puri et al., 2025, IEEE </a:t>
                      </a: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0160" marR="41910">
                        <a:lnSpc>
                          <a:spcPct val="100000"/>
                        </a:lnSpc>
                      </a:pPr>
                      <a:r>
                        <a:rPr lang="en-IN" sz="1000" i="0" u="sng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hlinkClick r:id="rId4"/>
                        </a:rPr>
                        <a:t>https://ieeexplore.ieee.org/document/10914565</a:t>
                      </a: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0795">
                        <a:lnSpc>
                          <a:spcPct val="100000"/>
                        </a:lnSpc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preprocessed and standardized, models serialized for decentralized training with IPFS and smart contracts, evaluated using feedback-based XAI (LIME).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68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Enables secure, transparent model collaboration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Experiments were only in controlled (</a:t>
                      </a:r>
                      <a:r>
                        <a:rPr lang="en-US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testnet</a:t>
                      </a: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environments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3265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lang="en-US" sz="100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 Microwave Sensor Based on Concentric Split-Ring Resonators for Blood Urea Detection: A Novel Tool for Chronic Kidney Disease Diagnosis</a:t>
                      </a: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lang="fr-FR" sz="1000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Mateus</a:t>
                      </a:r>
                      <a:r>
                        <a:rPr lang="fr-FR" sz="100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I. O. Souza et al., 2025, IEEE </a:t>
                      </a: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lang="en-IN" sz="1000" i="0" u="sng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hlinkClick r:id="rId5"/>
                        </a:rPr>
                        <a:t>https://ieeexplore.ieee.org/document/11008467</a:t>
                      </a: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Dielectric characterization of ABPS/ABPSU using coaxial probe and Cole-Cole model, sensor simulated in HFSS, analyzed from 500 MHz–10 GHz, and validated experimentally with VNA.</a:t>
                      </a: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07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143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Sensitivity comparable to optical sensors, but without need for reagents</a:t>
                      </a:r>
                    </a:p>
                    <a:p>
                      <a:pPr marL="114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Potential contamination between test samples due to sample container design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0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525" marR="64769">
                        <a:lnSpc>
                          <a:spcPct val="100000"/>
                        </a:lnSpc>
                      </a:pPr>
                      <a:r>
                        <a:rPr lang="en-US" sz="100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 Chronic Kidney Disease Diagnostic Model Based on an Interpretable Deep Belief Rule Base</a:t>
                      </a: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lang="en-IN" sz="100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Yawen Zhao, Kexin Zhang, </a:t>
                      </a:r>
                      <a:r>
                        <a:rPr lang="en-IN" sz="1000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Xiping</a:t>
                      </a:r>
                      <a:r>
                        <a:rPr lang="en-IN" sz="100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Duan, Shuping Che, Ning Ma 2025, IEEE </a:t>
                      </a: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174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0160" marR="41910">
                        <a:lnSpc>
                          <a:spcPct val="100000"/>
                        </a:lnSpc>
                      </a:pPr>
                      <a:r>
                        <a:rPr lang="en-IN" sz="1000" i="0" u="sng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hlinkClick r:id="rId6"/>
                        </a:rPr>
                        <a:t>https://ieeexplore.ieee.org/document/10883992</a:t>
                      </a: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Rule reduction using expert-defined efficiency factors</a:t>
                      </a:r>
                    </a:p>
                  </a:txBody>
                  <a:tcPr marL="0" marR="0" marT="1174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.Demonstrated improved trustworthiness using expert-guided constraints</a:t>
                      </a: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real-time or large-scale clinical validation yet</a:t>
                      </a:r>
                    </a:p>
                  </a:txBody>
                  <a:tcPr marL="0" marR="0" marT="1174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0952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RESEARCH</a:t>
            </a:r>
            <a:r>
              <a:rPr spc="-265" dirty="0"/>
              <a:t> </a:t>
            </a:r>
            <a:r>
              <a:rPr spc="-20" dirty="0"/>
              <a:t>GAPS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244" y="6448890"/>
            <a:ext cx="7270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1</a:t>
            </a:r>
            <a:r>
              <a:rPr lang="en-US" dirty="0"/>
              <a:t>0</a:t>
            </a:r>
            <a:r>
              <a:rPr dirty="0"/>
              <a:t>-1</a:t>
            </a:r>
            <a:r>
              <a:rPr lang="en-US" dirty="0"/>
              <a:t>1</a:t>
            </a:r>
            <a:r>
              <a:rPr dirty="0"/>
              <a:t>-</a:t>
            </a:r>
            <a:r>
              <a:rPr spc="-20" dirty="0"/>
              <a:t>20</a:t>
            </a:r>
            <a:r>
              <a:rPr lang="en-US" spc="-20" dirty="0"/>
              <a:t>25</a:t>
            </a: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Review</a:t>
            </a:r>
            <a:r>
              <a:rPr spc="-60" dirty="0"/>
              <a:t> </a:t>
            </a:r>
            <a:r>
              <a:rPr spc="-25" dirty="0"/>
              <a:t>No.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05958" y="6448890"/>
            <a:ext cx="22510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tabLst>
                <a:tab pos="1050290" algn="l"/>
              </a:tabLst>
            </a:pPr>
            <a:r>
              <a:rPr sz="1200" dirty="0">
                <a:solidFill>
                  <a:srgbClr val="878787"/>
                </a:solidFill>
                <a:latin typeface="Times New Roman"/>
                <a:cs typeface="Times New Roman"/>
              </a:rPr>
              <a:t>Batch</a:t>
            </a:r>
            <a:r>
              <a:rPr sz="1200" spc="-75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Times New Roman"/>
                <a:cs typeface="Times New Roman"/>
              </a:rPr>
              <a:t>No.</a:t>
            </a:r>
            <a:r>
              <a:rPr lang="en-US" sz="1200" spc="-10" dirty="0">
                <a:solidFill>
                  <a:srgbClr val="878787"/>
                </a:solidFill>
                <a:latin typeface="Times New Roman"/>
                <a:cs typeface="Times New Roman"/>
              </a:rPr>
              <a:t>CG7</a:t>
            </a:r>
            <a:r>
              <a:rPr sz="1200" dirty="0">
                <a:solidFill>
                  <a:srgbClr val="878787"/>
                </a:solidFill>
                <a:latin typeface="Times New Roman"/>
                <a:cs typeface="Times New Roman"/>
              </a:rPr>
              <a:t>	</a:t>
            </a:r>
            <a:r>
              <a:rPr sz="1200" spc="-20" dirty="0">
                <a:solidFill>
                  <a:srgbClr val="878787"/>
                </a:solidFill>
                <a:latin typeface="Times New Roman"/>
                <a:cs typeface="Times New Roman"/>
              </a:rPr>
              <a:t>Department </a:t>
            </a:r>
            <a:r>
              <a:rPr sz="1200" dirty="0">
                <a:solidFill>
                  <a:srgbClr val="878787"/>
                </a:solidFill>
                <a:latin typeface="Times New Roman"/>
                <a:cs typeface="Times New Roman"/>
              </a:rPr>
              <a:t>of</a:t>
            </a:r>
            <a:r>
              <a:rPr sz="1200" spc="70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78787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66368" y="1212291"/>
            <a:ext cx="10666095" cy="4674998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280035" indent="-267335">
              <a:lnSpc>
                <a:spcPct val="100000"/>
              </a:lnSpc>
              <a:spcBef>
                <a:spcPts val="115"/>
              </a:spcBef>
              <a:buAutoNum type="arabicPeriod"/>
              <a:tabLst>
                <a:tab pos="280035" algn="l"/>
              </a:tabLst>
            </a:pPr>
            <a:r>
              <a:rPr lang="en-IN" sz="2100" b="1" dirty="0">
                <a:latin typeface="Times New Roman"/>
                <a:cs typeface="Times New Roman"/>
              </a:rPr>
              <a:t>Limited</a:t>
            </a:r>
            <a:r>
              <a:rPr lang="en-IN" sz="2100" b="1" spc="-40" dirty="0">
                <a:latin typeface="Times New Roman"/>
                <a:cs typeface="Times New Roman"/>
              </a:rPr>
              <a:t> </a:t>
            </a:r>
            <a:r>
              <a:rPr lang="en-IN" sz="2100" b="1" dirty="0"/>
              <a:t>Dataset Diversity</a:t>
            </a:r>
          </a:p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280035" algn="l"/>
              </a:tabLs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trained on a small single-source dataset; lacks multi-center validation and demographic diversity.</a:t>
            </a:r>
            <a:endParaRPr sz="2100" dirty="0">
              <a:latin typeface="Times New Roman"/>
              <a:cs typeface="Times New Roman"/>
            </a:endParaRPr>
          </a:p>
          <a:p>
            <a:pPr marL="343535" indent="-264160">
              <a:lnSpc>
                <a:spcPct val="100000"/>
              </a:lnSpc>
              <a:spcBef>
                <a:spcPts val="5"/>
              </a:spcBef>
              <a:buAutoNum type="arabicPeriod" startAt="2"/>
              <a:tabLst>
                <a:tab pos="343535" algn="l"/>
              </a:tabLst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Longitudinal Analysis</a:t>
            </a:r>
          </a:p>
          <a:p>
            <a:pPr marL="79375">
              <a:lnSpc>
                <a:spcPct val="100000"/>
              </a:lnSpc>
              <a:spcBef>
                <a:spcPts val="5"/>
              </a:spcBef>
              <a:tabLst>
                <a:tab pos="343535" algn="l"/>
              </a:tabLst>
            </a:pPr>
            <a:r>
              <a:rPr lang="en-US" sz="2100" dirty="0"/>
              <a:t>Uses static data only; ignores disease progression and temporal patterns</a:t>
            </a:r>
            <a:r>
              <a:rPr sz="2100" spc="-10" dirty="0">
                <a:latin typeface="Times New Roman"/>
                <a:cs typeface="Times New Roman"/>
              </a:rPr>
              <a:t>.</a:t>
            </a:r>
            <a:endParaRPr sz="2100" dirty="0">
              <a:latin typeface="Times New Roman"/>
              <a:cs typeface="Times New Roman"/>
            </a:endParaRPr>
          </a:p>
          <a:p>
            <a:pPr marL="343535" indent="-264160">
              <a:lnSpc>
                <a:spcPct val="100000"/>
              </a:lnSpc>
              <a:buAutoNum type="arabicPeriod" startAt="3"/>
              <a:tabLst>
                <a:tab pos="343535" algn="l"/>
              </a:tabLst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Computational Complexity</a:t>
            </a:r>
          </a:p>
          <a:p>
            <a:pPr marL="79375">
              <a:lnSpc>
                <a:spcPct val="100000"/>
              </a:lnSpc>
              <a:tabLst>
                <a:tab pos="343535" algn="l"/>
              </a:tabLst>
            </a:pPr>
            <a:r>
              <a:rPr lang="en-US" sz="21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SHAP &amp; LIME improve interpretability but are too heavy for real-time or low-resource settings.</a:t>
            </a:r>
          </a:p>
          <a:p>
            <a:pPr marL="79375">
              <a:lnSpc>
                <a:spcPct val="100000"/>
              </a:lnSpc>
              <a:tabLst>
                <a:tab pos="343535" algn="l"/>
              </a:tabLst>
            </a:pPr>
            <a:r>
              <a:rPr lang="en-US" sz="21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4.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Clinical Integration</a:t>
            </a:r>
          </a:p>
          <a:p>
            <a:pPr marL="79375">
              <a:lnSpc>
                <a:spcPct val="100000"/>
              </a:lnSpc>
              <a:tabLst>
                <a:tab pos="343535" algn="l"/>
              </a:tabLst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yet tested in real hospital environments or EHR systems.</a:t>
            </a:r>
            <a:endParaRPr sz="2100" dirty="0">
              <a:latin typeface="Times New Roman"/>
              <a:cs typeface="Times New Roman"/>
            </a:endParaRPr>
          </a:p>
          <a:p>
            <a:pPr marL="343535" indent="-264160">
              <a:lnSpc>
                <a:spcPct val="100000"/>
              </a:lnSpc>
              <a:buAutoNum type="arabicPeriod" startAt="5"/>
              <a:tabLst>
                <a:tab pos="343535" algn="l"/>
              </a:tabLst>
            </a:pPr>
            <a:r>
              <a:rPr sz="2100" b="1" dirty="0">
                <a:latin typeface="Times New Roman"/>
                <a:cs typeface="Times New Roman"/>
              </a:rPr>
              <a:t>L</a:t>
            </a:r>
            <a:r>
              <a:rPr lang="en-US" sz="2100" b="1" dirty="0">
                <a:latin typeface="Times New Roman"/>
                <a:cs typeface="Times New Roman"/>
              </a:rPr>
              <a:t>imited</a:t>
            </a:r>
            <a:r>
              <a:rPr lang="en-US" sz="2100" b="1" spc="5" dirty="0">
                <a:latin typeface="Times New Roman"/>
                <a:cs typeface="Times New Roman"/>
              </a:rPr>
              <a:t> </a:t>
            </a:r>
            <a:r>
              <a:rPr lang="en-IN" sz="2100" b="1" dirty="0"/>
              <a:t>Feature Engineering</a:t>
            </a:r>
            <a:endParaRPr lang="en-US" sz="2100" b="1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lang="en-US" sz="2100" dirty="0">
                <a:latin typeface="Times New Roman"/>
                <a:cs typeface="Times New Roman"/>
              </a:rPr>
              <a:t> Few</a:t>
            </a:r>
            <a:r>
              <a:rPr lang="en-US" sz="2100" spc="5" dirty="0">
                <a:latin typeface="Times New Roman"/>
                <a:cs typeface="Times New Roman"/>
              </a:rPr>
              <a:t> </a:t>
            </a:r>
            <a:r>
              <a:rPr lang="en-US" sz="2100" dirty="0">
                <a:latin typeface="Times New Roman"/>
                <a:cs typeface="Times New Roman"/>
              </a:rPr>
              <a:t>studies</a:t>
            </a:r>
            <a:r>
              <a:rPr lang="en-US" sz="2100" spc="20" dirty="0">
                <a:latin typeface="Times New Roman"/>
                <a:cs typeface="Times New Roman"/>
              </a:rPr>
              <a:t> </a:t>
            </a:r>
            <a:r>
              <a:rPr lang="en-US" sz="2100" dirty="0">
                <a:latin typeface="Times New Roman"/>
                <a:cs typeface="Times New Roman"/>
              </a:rPr>
              <a:t>utilize</a:t>
            </a:r>
            <a:r>
              <a:rPr lang="en-US" sz="2100" spc="30" dirty="0">
                <a:latin typeface="Times New Roman"/>
                <a:cs typeface="Times New Roman"/>
              </a:rPr>
              <a:t> </a:t>
            </a:r>
            <a:r>
              <a:rPr lang="en-US" sz="2100" spc="-10" dirty="0">
                <a:latin typeface="Times New Roman"/>
                <a:cs typeface="Times New Roman"/>
              </a:rPr>
              <a:t>transformer-</a:t>
            </a:r>
            <a:r>
              <a:rPr lang="en-US" sz="2100" dirty="0">
                <a:latin typeface="Times New Roman"/>
                <a:cs typeface="Times New Roman"/>
              </a:rPr>
              <a:t>based</a:t>
            </a:r>
            <a:r>
              <a:rPr lang="en-US" sz="2100" spc="20" dirty="0">
                <a:latin typeface="Times New Roman"/>
                <a:cs typeface="Times New Roman"/>
              </a:rPr>
              <a:t> </a:t>
            </a:r>
            <a:r>
              <a:rPr lang="en-US" sz="2100" dirty="0">
                <a:latin typeface="Times New Roman"/>
                <a:cs typeface="Times New Roman"/>
              </a:rPr>
              <a:t>architectures</a:t>
            </a:r>
            <a:r>
              <a:rPr lang="en-US" sz="2100" spc="15" dirty="0">
                <a:latin typeface="Times New Roman"/>
                <a:cs typeface="Times New Roman"/>
              </a:rPr>
              <a:t> </a:t>
            </a:r>
            <a:r>
              <a:rPr lang="en-US" sz="2100" dirty="0">
                <a:latin typeface="Times New Roman"/>
                <a:cs typeface="Times New Roman"/>
              </a:rPr>
              <a:t>(like</a:t>
            </a:r>
            <a:r>
              <a:rPr lang="en-US" sz="2100" spc="25" dirty="0">
                <a:latin typeface="Times New Roman"/>
                <a:cs typeface="Times New Roman"/>
              </a:rPr>
              <a:t> </a:t>
            </a:r>
            <a:r>
              <a:rPr lang="en-US" sz="2100" dirty="0">
                <a:latin typeface="Times New Roman"/>
                <a:cs typeface="Times New Roman"/>
              </a:rPr>
              <a:t>BERT)</a:t>
            </a:r>
            <a:r>
              <a:rPr lang="en-US" sz="2100" spc="25" dirty="0">
                <a:latin typeface="Times New Roman"/>
                <a:cs typeface="Times New Roman"/>
              </a:rPr>
              <a:t> </a:t>
            </a:r>
            <a:r>
              <a:rPr lang="en-US" sz="2100" dirty="0">
                <a:latin typeface="Times New Roman"/>
                <a:cs typeface="Times New Roman"/>
              </a:rPr>
              <a:t>for</a:t>
            </a:r>
            <a:r>
              <a:rPr lang="en-US" sz="2100" spc="20" dirty="0">
                <a:latin typeface="Times New Roman"/>
                <a:cs typeface="Times New Roman"/>
              </a:rPr>
              <a:t> </a:t>
            </a:r>
            <a:r>
              <a:rPr lang="en-US" sz="2100" dirty="0">
                <a:latin typeface="Times New Roman"/>
                <a:cs typeface="Times New Roman"/>
              </a:rPr>
              <a:t>deep</a:t>
            </a:r>
            <a:r>
              <a:rPr lang="en-US" sz="2100" spc="25" dirty="0">
                <a:latin typeface="Times New Roman"/>
                <a:cs typeface="Times New Roman"/>
              </a:rPr>
              <a:t> </a:t>
            </a:r>
            <a:r>
              <a:rPr lang="en-US" sz="2100" dirty="0">
                <a:latin typeface="Times New Roman"/>
                <a:cs typeface="Times New Roman"/>
              </a:rPr>
              <a:t>contextual</a:t>
            </a:r>
            <a:r>
              <a:rPr lang="en-US" sz="2100" spc="15" dirty="0">
                <a:latin typeface="Times New Roman"/>
                <a:cs typeface="Times New Roman"/>
              </a:rPr>
              <a:t> </a:t>
            </a:r>
            <a:r>
              <a:rPr lang="en-US" sz="2100" dirty="0">
                <a:latin typeface="Times New Roman"/>
                <a:cs typeface="Times New Roman"/>
              </a:rPr>
              <a:t>analysis</a:t>
            </a:r>
            <a:r>
              <a:rPr lang="en-US" sz="2100" spc="45" dirty="0">
                <a:latin typeface="Times New Roman"/>
                <a:cs typeface="Times New Roman"/>
              </a:rPr>
              <a:t> </a:t>
            </a:r>
            <a:r>
              <a:rPr lang="en-US" sz="2100" spc="-25" dirty="0">
                <a:latin typeface="Times New Roman"/>
                <a:cs typeface="Times New Roman"/>
              </a:rPr>
              <a:t>in</a:t>
            </a:r>
            <a:endParaRPr lang="en-US" sz="21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sz="2100" dirty="0">
                <a:latin typeface="Times New Roman"/>
                <a:cs typeface="Times New Roman"/>
              </a:rPr>
              <a:t>combination</a:t>
            </a:r>
            <a:r>
              <a:rPr lang="en-US" sz="2100" spc="-50" dirty="0">
                <a:latin typeface="Times New Roman"/>
                <a:cs typeface="Times New Roman"/>
              </a:rPr>
              <a:t> </a:t>
            </a:r>
            <a:r>
              <a:rPr lang="en-US" sz="2100" dirty="0">
                <a:latin typeface="Times New Roman"/>
                <a:cs typeface="Times New Roman"/>
              </a:rPr>
              <a:t>with</a:t>
            </a:r>
            <a:r>
              <a:rPr lang="en-US" sz="2100" spc="-50" dirty="0">
                <a:latin typeface="Times New Roman"/>
                <a:cs typeface="Times New Roman"/>
              </a:rPr>
              <a:t> </a:t>
            </a:r>
            <a:r>
              <a:rPr lang="en-US" sz="2100" spc="-10" dirty="0">
                <a:latin typeface="Times New Roman"/>
                <a:cs typeface="Times New Roman"/>
              </a:rPr>
              <a:t>metadata</a:t>
            </a:r>
            <a:r>
              <a:rPr sz="2100" spc="-10" dirty="0">
                <a:latin typeface="Times New Roman"/>
                <a:cs typeface="Times New Roman"/>
              </a:rPr>
              <a:t>.</a:t>
            </a:r>
            <a:endParaRPr lang="en-US" sz="2100" spc="-1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6.Missing Deep Learning Comparison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benchmarking against transformer or multimodal architectures</a:t>
            </a:r>
            <a:endParaRPr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8021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PROBLEM</a:t>
            </a:r>
            <a:r>
              <a:rPr spc="-215" dirty="0"/>
              <a:t> </a:t>
            </a:r>
            <a:r>
              <a:rPr spc="-30" dirty="0"/>
              <a:t>STATEMENT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244" y="6448890"/>
            <a:ext cx="7270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1</a:t>
            </a:r>
            <a:r>
              <a:rPr lang="en-US" dirty="0"/>
              <a:t>0</a:t>
            </a:r>
            <a:r>
              <a:rPr dirty="0"/>
              <a:t>-1</a:t>
            </a:r>
            <a:r>
              <a:rPr lang="en-US" dirty="0"/>
              <a:t>1</a:t>
            </a:r>
            <a:r>
              <a:rPr dirty="0"/>
              <a:t>-</a:t>
            </a:r>
            <a:r>
              <a:rPr spc="-20" dirty="0"/>
              <a:t>202</a:t>
            </a:r>
            <a:r>
              <a:rPr lang="en-US" spc="-20" dirty="0"/>
              <a:t>5</a:t>
            </a: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Review</a:t>
            </a:r>
            <a:r>
              <a:rPr spc="-60" dirty="0"/>
              <a:t> </a:t>
            </a:r>
            <a:r>
              <a:rPr spc="-25" dirty="0"/>
              <a:t>No.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05958" y="6448890"/>
            <a:ext cx="22510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tabLst>
                <a:tab pos="1050290" algn="l"/>
              </a:tabLst>
            </a:pPr>
            <a:r>
              <a:rPr sz="1200" dirty="0">
                <a:solidFill>
                  <a:srgbClr val="878787"/>
                </a:solidFill>
                <a:latin typeface="Times New Roman"/>
                <a:cs typeface="Times New Roman"/>
              </a:rPr>
              <a:t>Batch</a:t>
            </a:r>
            <a:r>
              <a:rPr sz="1200" spc="-75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Times New Roman"/>
                <a:cs typeface="Times New Roman"/>
              </a:rPr>
              <a:t>No.</a:t>
            </a:r>
            <a:r>
              <a:rPr lang="en-US" sz="1200" spc="-10" dirty="0">
                <a:solidFill>
                  <a:srgbClr val="878787"/>
                </a:solidFill>
                <a:latin typeface="Times New Roman"/>
                <a:cs typeface="Times New Roman"/>
              </a:rPr>
              <a:t>CG7</a:t>
            </a:r>
            <a:r>
              <a:rPr sz="1200" dirty="0">
                <a:solidFill>
                  <a:srgbClr val="878787"/>
                </a:solidFill>
                <a:latin typeface="Times New Roman"/>
                <a:cs typeface="Times New Roman"/>
              </a:rPr>
              <a:t>	</a:t>
            </a:r>
            <a:r>
              <a:rPr sz="1200" spc="-20" dirty="0">
                <a:solidFill>
                  <a:srgbClr val="878787"/>
                </a:solidFill>
                <a:latin typeface="Times New Roman"/>
                <a:cs typeface="Times New Roman"/>
              </a:rPr>
              <a:t>Department </a:t>
            </a:r>
            <a:r>
              <a:rPr sz="1200" dirty="0">
                <a:solidFill>
                  <a:srgbClr val="878787"/>
                </a:solidFill>
                <a:latin typeface="Times New Roman"/>
                <a:cs typeface="Times New Roman"/>
              </a:rPr>
              <a:t>of</a:t>
            </a:r>
            <a:r>
              <a:rPr sz="1200" spc="70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78787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65149" y="1220546"/>
            <a:ext cx="10777220" cy="407675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356870" algn="l"/>
              </a:tabLst>
            </a:pPr>
            <a:r>
              <a:rPr sz="2200" b="1" dirty="0">
                <a:latin typeface="Times New Roman"/>
                <a:cs typeface="Times New Roman"/>
              </a:rPr>
              <a:t>Main</a:t>
            </a:r>
            <a:r>
              <a:rPr sz="2200" b="1" spc="-2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Issue</a:t>
            </a:r>
            <a:endParaRPr sz="2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609600" algn="l"/>
                <a:tab pos="1917700" algn="l"/>
                <a:tab pos="2933065" algn="l"/>
                <a:tab pos="3326129" algn="l"/>
                <a:tab pos="4762500" algn="l"/>
                <a:tab pos="5311140" algn="l"/>
                <a:tab pos="6511925" algn="l"/>
                <a:tab pos="6966584" algn="l"/>
                <a:tab pos="8024495" algn="l"/>
                <a:tab pos="8759190" algn="l"/>
                <a:tab pos="9137015" algn="l"/>
                <a:tab pos="9637395" algn="l"/>
                <a:tab pos="10527030" algn="l"/>
              </a:tabLs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integration of features and poor handling of class imbalance, along with lack of secure, interpretable, and decentralized model training</a:t>
            </a:r>
            <a:r>
              <a:rPr sz="2200" spc="-10" dirty="0">
                <a:latin typeface="Times New Roman"/>
                <a:cs typeface="Times New Roman"/>
              </a:rPr>
              <a:t>.</a:t>
            </a:r>
            <a:endParaRPr sz="2200" dirty="0">
              <a:latin typeface="Times New Roman"/>
              <a:cs typeface="Times New Roman"/>
            </a:endParaRPr>
          </a:p>
          <a:p>
            <a:pPr marL="426720" indent="-4140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26720" algn="l"/>
              </a:tabLst>
            </a:pPr>
            <a:r>
              <a:rPr sz="2200" b="1" dirty="0">
                <a:latin typeface="Times New Roman"/>
                <a:cs typeface="Times New Roman"/>
              </a:rPr>
              <a:t>Existing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Limitations</a:t>
            </a:r>
            <a:endParaRPr sz="2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lang="en-US" sz="2200" dirty="0"/>
              <a:t>Limited feature integration, poor handling of class imbalance, lack of decentralized and secure model training, and insufficient explainability of predictions</a:t>
            </a:r>
            <a:r>
              <a:rPr sz="2200" spc="-20" dirty="0">
                <a:latin typeface="Times New Roman"/>
                <a:cs typeface="Times New Roman"/>
              </a:rPr>
              <a:t>.</a:t>
            </a:r>
            <a:endParaRPr sz="2200" dirty="0">
              <a:latin typeface="Times New Roman"/>
              <a:cs typeface="Times New Roman"/>
            </a:endParaRPr>
          </a:p>
          <a:p>
            <a:pPr marL="426720" indent="-4140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26720" algn="l"/>
              </a:tabLst>
            </a:pPr>
            <a:r>
              <a:rPr sz="2200" b="1" dirty="0">
                <a:latin typeface="Times New Roman"/>
                <a:cs typeface="Times New Roman"/>
              </a:rPr>
              <a:t>Core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Problem</a:t>
            </a:r>
            <a:endParaRPr sz="22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Inadequate integration of diverse features and class imbalance, combined with limited secure, decentralized, and interpretable model training.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7355" indent="-414655" algn="just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27355" algn="l"/>
              </a:tabLst>
            </a:pPr>
            <a:r>
              <a:rPr sz="2200" b="1" spc="-20" dirty="0">
                <a:latin typeface="Times New Roman"/>
                <a:cs typeface="Times New Roman"/>
              </a:rPr>
              <a:t>Goal</a:t>
            </a:r>
            <a:endParaRPr sz="220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robust, secure, and interpretable model that integrates diverse features, handles class imbalance effectively, and supports decentralized training.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0705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OBJECTIVES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244" y="6448890"/>
            <a:ext cx="7270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1</a:t>
            </a:r>
            <a:r>
              <a:rPr lang="en-US" dirty="0"/>
              <a:t>0</a:t>
            </a:r>
            <a:r>
              <a:rPr dirty="0"/>
              <a:t>-1</a:t>
            </a:r>
            <a:r>
              <a:rPr lang="en-US" dirty="0"/>
              <a:t>1</a:t>
            </a:r>
            <a:r>
              <a:rPr dirty="0"/>
              <a:t>-</a:t>
            </a:r>
            <a:r>
              <a:rPr spc="-20" dirty="0"/>
              <a:t>202</a:t>
            </a:r>
            <a:r>
              <a:rPr lang="en-US" spc="-20" dirty="0"/>
              <a:t>5</a:t>
            </a: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Review</a:t>
            </a:r>
            <a:r>
              <a:rPr spc="-60" dirty="0"/>
              <a:t> </a:t>
            </a:r>
            <a:r>
              <a:rPr spc="-25" dirty="0"/>
              <a:t>No.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05958" y="6448890"/>
            <a:ext cx="22510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tabLst>
                <a:tab pos="1050290" algn="l"/>
              </a:tabLst>
            </a:pPr>
            <a:r>
              <a:rPr sz="1200" dirty="0">
                <a:solidFill>
                  <a:srgbClr val="878787"/>
                </a:solidFill>
                <a:latin typeface="Times New Roman"/>
                <a:cs typeface="Times New Roman"/>
              </a:rPr>
              <a:t>Batch</a:t>
            </a:r>
            <a:r>
              <a:rPr sz="1200" spc="-75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Times New Roman"/>
                <a:cs typeface="Times New Roman"/>
              </a:rPr>
              <a:t>No.</a:t>
            </a:r>
            <a:r>
              <a:rPr lang="en-US" sz="1200" spc="-10" dirty="0">
                <a:solidFill>
                  <a:srgbClr val="878787"/>
                </a:solidFill>
                <a:latin typeface="Times New Roman"/>
                <a:cs typeface="Times New Roman"/>
              </a:rPr>
              <a:t>CG7</a:t>
            </a:r>
            <a:r>
              <a:rPr sz="1200" dirty="0">
                <a:solidFill>
                  <a:srgbClr val="878787"/>
                </a:solidFill>
                <a:latin typeface="Times New Roman"/>
                <a:cs typeface="Times New Roman"/>
              </a:rPr>
              <a:t>	</a:t>
            </a:r>
            <a:r>
              <a:rPr sz="1200" spc="-20" dirty="0">
                <a:solidFill>
                  <a:srgbClr val="878787"/>
                </a:solidFill>
                <a:latin typeface="Times New Roman"/>
                <a:cs typeface="Times New Roman"/>
              </a:rPr>
              <a:t>Department </a:t>
            </a:r>
            <a:r>
              <a:rPr sz="1200" dirty="0">
                <a:solidFill>
                  <a:srgbClr val="878787"/>
                </a:solidFill>
                <a:latin typeface="Times New Roman"/>
                <a:cs typeface="Times New Roman"/>
              </a:rPr>
              <a:t>of</a:t>
            </a:r>
            <a:r>
              <a:rPr sz="1200" spc="70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78787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39876" y="1449705"/>
            <a:ext cx="10919460" cy="272189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200" b="1" dirty="0">
                <a:latin typeface="Times New Roman"/>
                <a:cs typeface="Times New Roman"/>
              </a:rPr>
              <a:t>Specific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Objectives</a:t>
            </a:r>
            <a:endParaRPr sz="2200" dirty="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buFont typeface="Arial MT"/>
              <a:buChar char="•"/>
              <a:tabLst>
                <a:tab pos="356870" algn="l"/>
              </a:tabLst>
            </a:pPr>
            <a:r>
              <a:rPr lang="en-US" sz="2200" dirty="0" smtClean="0">
                <a:latin typeface="Times New Roman"/>
                <a:cs typeface="Times New Roman"/>
              </a:rPr>
              <a:t>Improve data cleaning, imputation, and normalization</a:t>
            </a:r>
          </a:p>
          <a:p>
            <a:pPr marL="356870" indent="-344170">
              <a:lnSpc>
                <a:spcPct val="100000"/>
              </a:lnSpc>
              <a:buFont typeface="Arial MT"/>
              <a:buChar char="•"/>
              <a:tabLst>
                <a:tab pos="356870" algn="l"/>
              </a:tabLst>
            </a:pPr>
            <a:endParaRPr lang="en-US" sz="2200" dirty="0" smtClean="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buFont typeface="Arial MT"/>
              <a:buChar char="•"/>
              <a:tabLst>
                <a:tab pos="356870" algn="l"/>
              </a:tabLst>
            </a:pPr>
            <a:r>
              <a:rPr lang="en-US" sz="2200" dirty="0" smtClean="0">
                <a:latin typeface="Times New Roman"/>
                <a:cs typeface="Times New Roman"/>
              </a:rPr>
              <a:t>Use SMOTE for balancing</a:t>
            </a:r>
          </a:p>
          <a:p>
            <a:pPr marL="356870" indent="-344170">
              <a:lnSpc>
                <a:spcPct val="100000"/>
              </a:lnSpc>
              <a:buFont typeface="Arial MT"/>
              <a:buChar char="•"/>
              <a:tabLst>
                <a:tab pos="356870" algn="l"/>
              </a:tabLst>
            </a:pPr>
            <a:endParaRPr lang="en-US" sz="2200" dirty="0" smtClean="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buFont typeface="Arial MT"/>
              <a:buChar char="•"/>
              <a:tabLst>
                <a:tab pos="356870" algn="l"/>
              </a:tabLst>
            </a:pPr>
            <a:r>
              <a:rPr lang="en-US" sz="2200" dirty="0" smtClean="0">
                <a:latin typeface="Times New Roman"/>
                <a:cs typeface="Times New Roman"/>
              </a:rPr>
              <a:t>Apply </a:t>
            </a:r>
            <a:r>
              <a:rPr lang="en-US" sz="2200" dirty="0" err="1" smtClean="0">
                <a:latin typeface="Times New Roman"/>
                <a:cs typeface="Times New Roman"/>
              </a:rPr>
              <a:t>blockchain</a:t>
            </a:r>
            <a:r>
              <a:rPr lang="en-US" sz="2200" dirty="0" smtClean="0">
                <a:latin typeface="Times New Roman"/>
                <a:cs typeface="Times New Roman"/>
              </a:rPr>
              <a:t> for secure training</a:t>
            </a:r>
          </a:p>
          <a:p>
            <a:pPr marL="356870" indent="-344170">
              <a:lnSpc>
                <a:spcPct val="100000"/>
              </a:lnSpc>
              <a:buFont typeface="Arial MT"/>
              <a:buChar char="•"/>
              <a:tabLst>
                <a:tab pos="356870" algn="l"/>
              </a:tabLst>
            </a:pPr>
            <a:endParaRPr lang="en-US" sz="2200" dirty="0" smtClean="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buFont typeface="Arial MT"/>
              <a:buChar char="•"/>
              <a:tabLst>
                <a:tab pos="356870" algn="l"/>
              </a:tabLst>
            </a:pPr>
            <a:r>
              <a:rPr lang="en-US" sz="2200" dirty="0" smtClean="0">
                <a:latin typeface="Times New Roman"/>
                <a:cs typeface="Times New Roman"/>
              </a:rPr>
              <a:t>Evaluate accuracy, precision, recall, F1-score</a:t>
            </a:r>
            <a:endParaRPr sz="2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50" dirty="0"/>
              <a:t>BLOCK</a:t>
            </a:r>
            <a:r>
              <a:rPr sz="3950" spc="10" dirty="0"/>
              <a:t> </a:t>
            </a:r>
            <a:r>
              <a:rPr sz="3950" dirty="0"/>
              <a:t>DIAGRAM</a:t>
            </a:r>
            <a:r>
              <a:rPr sz="3950" spc="50" dirty="0"/>
              <a:t> </a:t>
            </a:r>
            <a:r>
              <a:rPr sz="3950" dirty="0"/>
              <a:t>OR</a:t>
            </a:r>
            <a:r>
              <a:rPr sz="3950" spc="45" dirty="0"/>
              <a:t> </a:t>
            </a:r>
            <a:r>
              <a:rPr sz="3950" dirty="0"/>
              <a:t>FLOW</a:t>
            </a:r>
            <a:r>
              <a:rPr sz="3950" spc="-125" dirty="0"/>
              <a:t> </a:t>
            </a:r>
            <a:r>
              <a:rPr sz="3950" spc="-10" dirty="0"/>
              <a:t>DIAGRAM</a:t>
            </a:r>
            <a:endParaRPr sz="395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917244" y="6448890"/>
            <a:ext cx="7270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1</a:t>
            </a:r>
            <a:r>
              <a:rPr lang="en-US" dirty="0"/>
              <a:t>0</a:t>
            </a:r>
            <a:r>
              <a:rPr dirty="0"/>
              <a:t>-1</a:t>
            </a:r>
            <a:r>
              <a:rPr lang="en-US" dirty="0"/>
              <a:t>1</a:t>
            </a:r>
            <a:r>
              <a:rPr dirty="0"/>
              <a:t>-</a:t>
            </a:r>
            <a:r>
              <a:rPr spc="-20" dirty="0"/>
              <a:t>202</a:t>
            </a:r>
            <a:r>
              <a:rPr lang="en-US" spc="-20" dirty="0"/>
              <a:t>5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Review</a:t>
            </a:r>
            <a:r>
              <a:rPr spc="-60" dirty="0"/>
              <a:t> </a:t>
            </a:r>
            <a:r>
              <a:rPr spc="-25" dirty="0"/>
              <a:t>No.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505958" y="6448890"/>
            <a:ext cx="22510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tabLst>
                <a:tab pos="1050290" algn="l"/>
              </a:tabLst>
            </a:pPr>
            <a:r>
              <a:rPr sz="1200" dirty="0">
                <a:solidFill>
                  <a:srgbClr val="878787"/>
                </a:solidFill>
                <a:latin typeface="Times New Roman"/>
                <a:cs typeface="Times New Roman"/>
              </a:rPr>
              <a:t>Batch</a:t>
            </a:r>
            <a:r>
              <a:rPr sz="1200" spc="-75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Times New Roman"/>
                <a:cs typeface="Times New Roman"/>
              </a:rPr>
              <a:t>No.</a:t>
            </a:r>
            <a:r>
              <a:rPr lang="en-US" sz="1200" spc="-10" dirty="0">
                <a:solidFill>
                  <a:srgbClr val="878787"/>
                </a:solidFill>
                <a:latin typeface="Times New Roman"/>
                <a:cs typeface="Times New Roman"/>
              </a:rPr>
              <a:t>CG7</a:t>
            </a:r>
            <a:r>
              <a:rPr sz="1200" dirty="0">
                <a:solidFill>
                  <a:srgbClr val="878787"/>
                </a:solidFill>
                <a:latin typeface="Times New Roman"/>
                <a:cs typeface="Times New Roman"/>
              </a:rPr>
              <a:t>	</a:t>
            </a:r>
            <a:r>
              <a:rPr sz="1200" spc="-20" dirty="0">
                <a:solidFill>
                  <a:srgbClr val="878787"/>
                </a:solidFill>
                <a:latin typeface="Times New Roman"/>
                <a:cs typeface="Times New Roman"/>
              </a:rPr>
              <a:t>Department </a:t>
            </a:r>
            <a:r>
              <a:rPr sz="1200" dirty="0">
                <a:solidFill>
                  <a:srgbClr val="878787"/>
                </a:solidFill>
                <a:latin typeface="Times New Roman"/>
                <a:cs typeface="Times New Roman"/>
              </a:rPr>
              <a:t>of</a:t>
            </a:r>
            <a:r>
              <a:rPr sz="1200" spc="70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78787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E0094C87-7348-ECF5-0A06-4960775903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6627" y="1295400"/>
            <a:ext cx="6058746" cy="4724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6413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METHODOLOGY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3400" y="1608784"/>
            <a:ext cx="5081421" cy="299953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16535" indent="-203835">
              <a:lnSpc>
                <a:spcPct val="100000"/>
              </a:lnSpc>
              <a:buAutoNum type="arabicPeriod"/>
              <a:tabLst>
                <a:tab pos="216535" algn="l"/>
              </a:tabLst>
            </a:pPr>
            <a:r>
              <a:rPr lang="en-US" sz="1600" b="1" spc="-10" dirty="0">
                <a:latin typeface="Times New Roman"/>
                <a:cs typeface="Times New Roman"/>
              </a:rPr>
              <a:t> Data </a:t>
            </a:r>
            <a:r>
              <a:rPr sz="1600" b="1" spc="-10" dirty="0">
                <a:latin typeface="Times New Roman"/>
                <a:cs typeface="Times New Roman"/>
              </a:rPr>
              <a:t>Preprocessing</a:t>
            </a:r>
            <a:endParaRPr sz="1600" dirty="0">
              <a:latin typeface="Times New Roman"/>
              <a:cs typeface="Times New Roman"/>
            </a:endParaRPr>
          </a:p>
          <a:p>
            <a:pPr marL="298450" marR="19177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Encoding and standardization of features</a:t>
            </a:r>
            <a:r>
              <a:rPr lang="en-IN" sz="1600" spc="-10" dirty="0">
                <a:latin typeface="Times New Roman"/>
                <a:cs typeface="Times New Roman"/>
              </a:rPr>
              <a:t>.</a:t>
            </a:r>
          </a:p>
          <a:p>
            <a:pPr marL="298450" marR="19177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Z-score normalization.</a:t>
            </a:r>
          </a:p>
          <a:p>
            <a:pPr marL="298450" marR="19177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Missing value imputation via learned regression.</a:t>
            </a:r>
          </a:p>
          <a:p>
            <a:pPr marL="298450" marR="19177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IN" sz="1600" dirty="0">
              <a:latin typeface="Times New Roman"/>
              <a:cs typeface="Times New Roman"/>
            </a:endParaRPr>
          </a:p>
          <a:p>
            <a:pPr marL="298450" marR="19177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IN" sz="1600" dirty="0">
              <a:latin typeface="Times New Roman"/>
              <a:cs typeface="Times New Roman"/>
            </a:endParaRPr>
          </a:p>
          <a:p>
            <a:pPr marL="298450" marR="19177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IN" sz="1600" dirty="0">
              <a:latin typeface="Times New Roman"/>
              <a:cs typeface="Times New Roman"/>
            </a:endParaRPr>
          </a:p>
          <a:p>
            <a:pPr marL="298450" marR="19177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IN" sz="1600" dirty="0">
              <a:latin typeface="Times New Roman"/>
              <a:cs typeface="Times New Roman"/>
            </a:endParaRPr>
          </a:p>
          <a:p>
            <a:pPr marL="12700" marR="191770">
              <a:lnSpc>
                <a:spcPct val="100000"/>
              </a:lnSpc>
            </a:pPr>
            <a:r>
              <a:rPr lang="en-IN" sz="1600" dirty="0">
                <a:latin typeface="Times New Roman"/>
                <a:cs typeface="Times New Roman"/>
              </a:rPr>
              <a:t>2. </a:t>
            </a:r>
            <a:r>
              <a:rPr lang="en-IN" sz="1600" b="1" dirty="0"/>
              <a:t>Feature Selection &amp; Correlation Analysis</a:t>
            </a:r>
            <a:endParaRPr lang="en-IN" sz="1600" b="1" dirty="0">
              <a:latin typeface="Times New Roman"/>
              <a:cs typeface="Times New Roman"/>
            </a:endParaRPr>
          </a:p>
          <a:p>
            <a:pPr marL="298450" marR="19177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/>
                <a:cs typeface="Times New Roman"/>
              </a:rPr>
              <a:t>Information Gain , RFE and Variance Threshold</a:t>
            </a:r>
          </a:p>
          <a:p>
            <a:pPr marL="298450" marR="19177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VIF and Pearson correlation filtering</a:t>
            </a:r>
            <a:endParaRPr lang="en-IN" sz="1600" dirty="0">
              <a:latin typeface="Times New Roman"/>
              <a:cs typeface="Times New Roman"/>
            </a:endParaRPr>
          </a:p>
          <a:p>
            <a:pPr marL="220980">
              <a:lnSpc>
                <a:spcPct val="100000"/>
              </a:lnSpc>
              <a:tabLst>
                <a:tab pos="424815" algn="l"/>
              </a:tabLst>
            </a:pPr>
            <a:endParaRPr lang="en-US" sz="1600" b="1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07785" y="1492123"/>
            <a:ext cx="5937250" cy="102912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6535" indent="-203835">
              <a:lnSpc>
                <a:spcPct val="100000"/>
              </a:lnSpc>
              <a:spcBef>
                <a:spcPts val="105"/>
              </a:spcBef>
              <a:buAutoNum type="arabicPeriod" startAt="3"/>
              <a:tabLst>
                <a:tab pos="216535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Balancing &amp; Model Training</a:t>
            </a:r>
            <a:endParaRPr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1915" lvl="1" indent="-79375">
              <a:lnSpc>
                <a:spcPct val="100000"/>
              </a:lnSpc>
              <a:buSzPct val="93750"/>
              <a:buFont typeface="Arial MT"/>
              <a:buChar char="•"/>
              <a:tabLst>
                <a:tab pos="81915" algn="l"/>
              </a:tabLst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SMOTE for class imbalance</a:t>
            </a:r>
            <a:r>
              <a:rPr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715" lvl="1" indent="-10160">
              <a:lnSpc>
                <a:spcPct val="100000"/>
              </a:lnSpc>
              <a:spcBef>
                <a:spcPts val="5"/>
              </a:spcBef>
              <a:buSzPct val="93750"/>
              <a:buFont typeface="Arial MT"/>
              <a:buChar char="•"/>
              <a:tabLst>
                <a:tab pos="81915" algn="l"/>
              </a:tabLst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training using ML and deep learning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1915" lvl="1" indent="-79375">
              <a:lnSpc>
                <a:spcPct val="100000"/>
              </a:lnSpc>
              <a:buSzPct val="93750"/>
              <a:buFont typeface="Arial MT"/>
              <a:buChar char="•"/>
              <a:tabLst>
                <a:tab pos="81915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Decentralized training with blockchain and IPFS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07785" y="3684270"/>
            <a:ext cx="5216525" cy="998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6535" indent="-203835">
              <a:lnSpc>
                <a:spcPct val="100000"/>
              </a:lnSpc>
              <a:spcBef>
                <a:spcPts val="105"/>
              </a:spcBef>
              <a:buAutoNum type="arabicPeriod" startAt="4"/>
              <a:tabLst>
                <a:tab pos="216535" algn="l"/>
              </a:tabLst>
            </a:pPr>
            <a:r>
              <a:rPr lang="en-IN" sz="1600" b="1" dirty="0"/>
              <a:t>Explainability &amp; Evaluation</a:t>
            </a:r>
            <a:endParaRPr lang="en-IN" sz="1600" b="1" dirty="0">
              <a:latin typeface="Times New Roman"/>
              <a:cs typeface="Times New Roman"/>
            </a:endParaRPr>
          </a:p>
          <a:p>
            <a:pPr marL="81915" lvl="1" indent="-79375">
              <a:lnSpc>
                <a:spcPct val="100000"/>
              </a:lnSpc>
              <a:buSzPct val="93750"/>
              <a:buFont typeface="Arial MT"/>
              <a:buChar char="•"/>
              <a:tabLst>
                <a:tab pos="81915" algn="l"/>
              </a:tabLst>
            </a:pPr>
            <a:r>
              <a:rPr lang="en-US" sz="1600" dirty="0"/>
              <a:t>Feature interpretation using SHAP and LIME</a:t>
            </a:r>
            <a:r>
              <a:rPr sz="1600" spc="-10" dirty="0">
                <a:latin typeface="Times New Roman"/>
                <a:cs typeface="Times New Roman"/>
              </a:rPr>
              <a:t>.</a:t>
            </a:r>
            <a:endParaRPr sz="1600" dirty="0">
              <a:latin typeface="Times New Roman"/>
              <a:cs typeface="Times New Roman"/>
            </a:endParaRPr>
          </a:p>
          <a:p>
            <a:pPr marL="81915" lvl="1" indent="-79375">
              <a:lnSpc>
                <a:spcPct val="100000"/>
              </a:lnSpc>
              <a:spcBef>
                <a:spcPts val="5"/>
              </a:spcBef>
              <a:buSzPct val="93750"/>
              <a:buFont typeface="Arial MT"/>
              <a:buChar char="•"/>
              <a:tabLst>
                <a:tab pos="81915" algn="l"/>
              </a:tabLst>
            </a:pPr>
            <a:r>
              <a:rPr lang="en-US" sz="1600" dirty="0"/>
              <a:t>Performance metrics: accuracy, precision, recall, F1-score</a:t>
            </a:r>
            <a:r>
              <a:rPr sz="1600" spc="-10" dirty="0">
                <a:latin typeface="Times New Roman"/>
                <a:cs typeface="Times New Roman"/>
              </a:rPr>
              <a:t>.</a:t>
            </a:r>
            <a:endParaRPr sz="1600" dirty="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523" y="1292352"/>
            <a:ext cx="12192000" cy="4048125"/>
            <a:chOff x="1523" y="1292352"/>
            <a:chExt cx="12192000" cy="4048125"/>
          </a:xfrm>
        </p:grpSpPr>
        <p:sp>
          <p:nvSpPr>
            <p:cNvPr id="10" name="object 10"/>
            <p:cNvSpPr/>
            <p:nvPr/>
          </p:nvSpPr>
          <p:spPr>
            <a:xfrm>
              <a:off x="1523" y="1296924"/>
              <a:ext cx="12192000" cy="0"/>
            </a:xfrm>
            <a:custGeom>
              <a:avLst/>
              <a:gdLst/>
              <a:ahLst/>
              <a:cxnLst/>
              <a:rect l="l" t="t" r="r" b="b"/>
              <a:pathLst>
                <a:path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6388" y="5330952"/>
              <a:ext cx="12136120" cy="9525"/>
            </a:xfrm>
            <a:custGeom>
              <a:avLst/>
              <a:gdLst/>
              <a:ahLst/>
              <a:cxnLst/>
              <a:rect l="l" t="t" r="r" b="b"/>
              <a:pathLst>
                <a:path w="12136120" h="9525">
                  <a:moveTo>
                    <a:pt x="12135612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12135612" y="9144"/>
                  </a:lnTo>
                  <a:lnTo>
                    <a:pt x="121356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23" y="3396996"/>
              <a:ext cx="12192000" cy="0"/>
            </a:xfrm>
            <a:custGeom>
              <a:avLst/>
              <a:gdLst/>
              <a:ahLst/>
              <a:cxnLst/>
              <a:rect l="l" t="t" r="r" b="b"/>
              <a:pathLst>
                <a:path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737859" y="1296924"/>
              <a:ext cx="0" cy="4038600"/>
            </a:xfrm>
            <a:custGeom>
              <a:avLst/>
              <a:gdLst/>
              <a:ahLst/>
              <a:cxnLst/>
              <a:rect l="l" t="t" r="r" b="b"/>
              <a:pathLst>
                <a:path h="4038600">
                  <a:moveTo>
                    <a:pt x="0" y="0"/>
                  </a:moveTo>
                  <a:lnTo>
                    <a:pt x="0" y="40386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xfrm>
            <a:off x="917244" y="6448890"/>
            <a:ext cx="7270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1</a:t>
            </a:r>
            <a:r>
              <a:rPr lang="en-US" dirty="0"/>
              <a:t>0</a:t>
            </a:r>
            <a:r>
              <a:rPr dirty="0"/>
              <a:t>-1</a:t>
            </a:r>
            <a:r>
              <a:rPr lang="en-US" dirty="0"/>
              <a:t>1</a:t>
            </a:r>
            <a:r>
              <a:rPr dirty="0"/>
              <a:t>-</a:t>
            </a:r>
            <a:r>
              <a:rPr spc="-20" dirty="0"/>
              <a:t>202</a:t>
            </a:r>
            <a:r>
              <a:rPr lang="en-US" spc="-20" dirty="0"/>
              <a:t>5</a:t>
            </a:r>
            <a:endParaRPr spc="-20" dirty="0"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Review</a:t>
            </a:r>
            <a:r>
              <a:rPr spc="-60" dirty="0"/>
              <a:t> </a:t>
            </a:r>
            <a:r>
              <a:rPr spc="-25" dirty="0"/>
              <a:t>No.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505958" y="6448890"/>
            <a:ext cx="22510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tabLst>
                <a:tab pos="1050290" algn="l"/>
              </a:tabLst>
            </a:pPr>
            <a:r>
              <a:rPr sz="1200" dirty="0">
                <a:solidFill>
                  <a:srgbClr val="878787"/>
                </a:solidFill>
                <a:latin typeface="Times New Roman"/>
                <a:cs typeface="Times New Roman"/>
              </a:rPr>
              <a:t>Batch</a:t>
            </a:r>
            <a:r>
              <a:rPr sz="1200" spc="-75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Times New Roman"/>
                <a:cs typeface="Times New Roman"/>
              </a:rPr>
              <a:t>No.</a:t>
            </a:r>
            <a:r>
              <a:rPr lang="en-US" sz="1200" spc="-10" dirty="0">
                <a:solidFill>
                  <a:srgbClr val="878787"/>
                </a:solidFill>
                <a:latin typeface="Times New Roman"/>
                <a:cs typeface="Times New Roman"/>
              </a:rPr>
              <a:t>CG7</a:t>
            </a:r>
            <a:r>
              <a:rPr sz="1200" dirty="0">
                <a:solidFill>
                  <a:srgbClr val="878787"/>
                </a:solidFill>
                <a:latin typeface="Times New Roman"/>
                <a:cs typeface="Times New Roman"/>
              </a:rPr>
              <a:t>	</a:t>
            </a:r>
            <a:r>
              <a:rPr sz="1200" spc="-20" dirty="0">
                <a:solidFill>
                  <a:srgbClr val="878787"/>
                </a:solidFill>
                <a:latin typeface="Times New Roman"/>
                <a:cs typeface="Times New Roman"/>
              </a:rPr>
              <a:t>Department </a:t>
            </a:r>
            <a:r>
              <a:rPr sz="1200" dirty="0">
                <a:solidFill>
                  <a:srgbClr val="878787"/>
                </a:solidFill>
                <a:latin typeface="Times New Roman"/>
                <a:cs typeface="Times New Roman"/>
              </a:rPr>
              <a:t>of</a:t>
            </a:r>
            <a:r>
              <a:rPr sz="1200" spc="70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78787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30548" y="410413"/>
            <a:ext cx="5277485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5" dirty="0"/>
              <a:t>IMPLEMENTATION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xfrm>
            <a:off x="530453" y="1275714"/>
            <a:ext cx="4994910" cy="44274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Implementation:</a:t>
            </a:r>
          </a:p>
          <a:p>
            <a:pPr marL="12700">
              <a:lnSpc>
                <a:spcPct val="100000"/>
              </a:lnSpc>
            </a:pPr>
            <a:r>
              <a:rPr lang="en-US" b="0" dirty="0"/>
              <a:t>Preprocessed data, performed feature selection, and handled missing values</a:t>
            </a:r>
            <a:r>
              <a:rPr b="0" spc="-10" dirty="0">
                <a:latin typeface="Times New Roman"/>
                <a:cs typeface="Times New Roman"/>
              </a:rPr>
              <a:t>.</a:t>
            </a:r>
          </a:p>
          <a:p>
            <a:pPr marL="12700">
              <a:lnSpc>
                <a:spcPct val="100000"/>
              </a:lnSpc>
              <a:tabLst>
                <a:tab pos="1350645" algn="l"/>
                <a:tab pos="2313940" algn="l"/>
                <a:tab pos="2844800" algn="l"/>
                <a:tab pos="3469640" algn="l"/>
                <a:tab pos="3829050" algn="l"/>
                <a:tab pos="4655185" algn="l"/>
              </a:tabLst>
            </a:pPr>
            <a:r>
              <a:rPr lang="en-US" b="0" dirty="0"/>
              <a:t>Trained ML/deep learning models with SMOTE for class balancing</a:t>
            </a:r>
            <a:r>
              <a:rPr b="0" spc="-10" dirty="0">
                <a:latin typeface="Times New Roman"/>
                <a:cs typeface="Times New Roman"/>
              </a:rPr>
              <a:t>.</a:t>
            </a:r>
          </a:p>
          <a:p>
            <a:pPr marL="12700">
              <a:lnSpc>
                <a:spcPct val="100000"/>
              </a:lnSpc>
              <a:tabLst>
                <a:tab pos="948055" algn="l"/>
                <a:tab pos="1999614" algn="l"/>
                <a:tab pos="3295650" algn="l"/>
                <a:tab pos="3905250" algn="l"/>
                <a:tab pos="4747260" algn="l"/>
              </a:tabLst>
            </a:pPr>
            <a:r>
              <a:rPr lang="en-US" b="0" dirty="0"/>
              <a:t>Used SHAP/LIME for model interpretability</a:t>
            </a:r>
            <a:r>
              <a:rPr b="0" spc="-10" dirty="0">
                <a:latin typeface="Times New Roman"/>
                <a:cs typeface="Times New Roman"/>
              </a:rPr>
              <a:t>.</a:t>
            </a: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b="0" spc="-1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/>
              <a:t>Software</a:t>
            </a:r>
            <a:r>
              <a:rPr spc="-50" dirty="0"/>
              <a:t> </a:t>
            </a:r>
            <a:r>
              <a:rPr spc="-10" dirty="0"/>
              <a:t>Specs:</a:t>
            </a:r>
          </a:p>
          <a:p>
            <a:pPr marL="12700">
              <a:lnSpc>
                <a:spcPct val="100000"/>
              </a:lnSpc>
            </a:pPr>
            <a:r>
              <a:rPr b="0" dirty="0">
                <a:latin typeface="Times New Roman"/>
                <a:cs typeface="Times New Roman"/>
              </a:rPr>
              <a:t>OS:</a:t>
            </a:r>
            <a:r>
              <a:rPr b="0" spc="-1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Colab</a:t>
            </a:r>
            <a:r>
              <a:rPr b="0" spc="-5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(Linux)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1929764" algn="l"/>
                <a:tab pos="3402329" algn="l"/>
              </a:tabLst>
            </a:pPr>
            <a:r>
              <a:rPr b="0" spc="-10" dirty="0">
                <a:latin typeface="Times New Roman"/>
                <a:cs typeface="Times New Roman"/>
              </a:rPr>
              <a:t>Frameworks:</a:t>
            </a:r>
            <a:r>
              <a:rPr b="0" dirty="0">
                <a:latin typeface="Times New Roman"/>
                <a:cs typeface="Times New Roman"/>
              </a:rPr>
              <a:t>	</a:t>
            </a:r>
            <a:r>
              <a:rPr lang="en-IN" b="0" dirty="0"/>
              <a:t>Scikit-learn, TensorFlow/</a:t>
            </a:r>
            <a:r>
              <a:rPr lang="en-IN" b="0" dirty="0" err="1"/>
              <a:t>Keras</a:t>
            </a:r>
            <a:endParaRPr lang="en-IN" b="0" dirty="0"/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1929764" algn="l"/>
                <a:tab pos="3402329" algn="l"/>
              </a:tabLst>
            </a:pPr>
            <a:r>
              <a:rPr b="0" dirty="0">
                <a:latin typeface="Times New Roman"/>
                <a:cs typeface="Times New Roman"/>
              </a:rPr>
              <a:t>Tools:</a:t>
            </a:r>
            <a:r>
              <a:rPr b="0" spc="-9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Pandas,</a:t>
            </a:r>
            <a:r>
              <a:rPr b="0" spc="-4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NumPy,</a:t>
            </a:r>
            <a:r>
              <a:rPr b="0" spc="30" dirty="0">
                <a:latin typeface="Times New Roman"/>
                <a:cs typeface="Times New Roman"/>
              </a:rPr>
              <a:t> </a:t>
            </a:r>
            <a:r>
              <a:rPr b="0" spc="-10" dirty="0" err="1">
                <a:latin typeface="Times New Roman"/>
                <a:cs typeface="Times New Roman"/>
              </a:rPr>
              <a:t>Matplotlib</a:t>
            </a:r>
            <a:r>
              <a:rPr lang="en-US" b="0" spc="-10" dirty="0" err="1">
                <a:latin typeface="Times New Roman"/>
                <a:cs typeface="Times New Roman"/>
              </a:rPr>
              <a:t>,Seaborn</a:t>
            </a:r>
            <a:endParaRPr b="0" spc="-1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48020" y="1519583"/>
            <a:ext cx="5405120" cy="41639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b="1" dirty="0">
                <a:latin typeface="Times New Roman"/>
                <a:cs typeface="Times New Roman"/>
              </a:rPr>
              <a:t>Hardware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Specs:</a:t>
            </a:r>
            <a:endParaRPr sz="2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GPU: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lang="en-IN" sz="2200" dirty="0"/>
              <a:t>NVIDIA GTX 1650/RTX series</a:t>
            </a:r>
          </a:p>
          <a:p>
            <a:pPr marL="12700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RAM: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lang="en-US" sz="2200" spc="-30" dirty="0">
                <a:latin typeface="Times New Roman"/>
                <a:cs typeface="Times New Roman"/>
              </a:rPr>
              <a:t>16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GB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| Storage: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100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GB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(Google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Drive)</a:t>
            </a:r>
            <a:endParaRPr sz="2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2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b="1" dirty="0">
                <a:latin typeface="Times New Roman"/>
                <a:cs typeface="Times New Roman"/>
              </a:rPr>
              <a:t>Challenges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&amp;</a:t>
            </a:r>
            <a:r>
              <a:rPr sz="2200" b="1" spc="-1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Solutions:</a:t>
            </a:r>
            <a:endParaRPr sz="2200" dirty="0">
              <a:latin typeface="Times New Roman"/>
              <a:cs typeface="Times New Roman"/>
            </a:endParaRPr>
          </a:p>
          <a:p>
            <a:pPr marL="12700" marR="41910">
              <a:lnSpc>
                <a:spcPct val="100000"/>
              </a:lnSpc>
            </a:pPr>
            <a:r>
              <a:rPr lang="en-US" sz="2200" b="1" dirty="0"/>
              <a:t>Missing data </a:t>
            </a:r>
            <a:r>
              <a:rPr lang="en-US" sz="2200" dirty="0"/>
              <a:t>→ Learned regression for imputation</a:t>
            </a:r>
          </a:p>
          <a:p>
            <a:pPr marL="12700" marR="41910">
              <a:lnSpc>
                <a:spcPct val="100000"/>
              </a:lnSpc>
            </a:pPr>
            <a:r>
              <a:rPr lang="en-US" sz="2200" b="1" dirty="0"/>
              <a:t>Class imbalance </a:t>
            </a:r>
            <a:r>
              <a:rPr lang="en-US" sz="2200" dirty="0"/>
              <a:t>→ SMOTE for balancing</a:t>
            </a:r>
          </a:p>
          <a:p>
            <a:pPr marL="12700" marR="41910">
              <a:lnSpc>
                <a:spcPct val="100000"/>
              </a:lnSpc>
            </a:pPr>
            <a:r>
              <a:rPr lang="en-US" sz="2200" b="1" dirty="0"/>
              <a:t>Lack of interpretability </a:t>
            </a:r>
            <a:r>
              <a:rPr lang="en-US" sz="2400" dirty="0"/>
              <a:t>→ SHAP and LIME</a:t>
            </a:r>
          </a:p>
          <a:p>
            <a:pPr marL="12700" marR="41910">
              <a:lnSpc>
                <a:spcPct val="100000"/>
              </a:lnSpc>
            </a:pPr>
            <a:r>
              <a:rPr lang="en-US" sz="2200" b="1" dirty="0"/>
              <a:t>Data security </a:t>
            </a:r>
            <a:r>
              <a:rPr lang="en-US" sz="2400" dirty="0"/>
              <a:t>→ Blockchain and IPFS</a:t>
            </a:r>
            <a:endParaRPr sz="2200" dirty="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523" y="1139952"/>
            <a:ext cx="12192635" cy="4805680"/>
            <a:chOff x="1523" y="1139952"/>
            <a:chExt cx="12192635" cy="4805680"/>
          </a:xfrm>
        </p:grpSpPr>
        <p:sp>
          <p:nvSpPr>
            <p:cNvPr id="6" name="object 6"/>
            <p:cNvSpPr/>
            <p:nvPr/>
          </p:nvSpPr>
          <p:spPr>
            <a:xfrm>
              <a:off x="1523" y="1144524"/>
              <a:ext cx="12192000" cy="0"/>
            </a:xfrm>
            <a:custGeom>
              <a:avLst/>
              <a:gdLst/>
              <a:ahLst/>
              <a:cxnLst/>
              <a:rect l="l" t="t" r="r" b="b"/>
              <a:pathLst>
                <a:path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23" y="5788152"/>
              <a:ext cx="12190730" cy="9525"/>
            </a:xfrm>
            <a:custGeom>
              <a:avLst/>
              <a:gdLst/>
              <a:ahLst/>
              <a:cxnLst/>
              <a:rect l="l" t="t" r="r" b="b"/>
              <a:pathLst>
                <a:path w="12190730" h="9525">
                  <a:moveTo>
                    <a:pt x="12190476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12190476" y="9144"/>
                  </a:lnTo>
                  <a:lnTo>
                    <a:pt x="121904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829300" y="1144524"/>
              <a:ext cx="0" cy="4800600"/>
            </a:xfrm>
            <a:custGeom>
              <a:avLst/>
              <a:gdLst/>
              <a:ahLst/>
              <a:cxnLst/>
              <a:rect l="l" t="t" r="r" b="b"/>
              <a:pathLst>
                <a:path h="4800600">
                  <a:moveTo>
                    <a:pt x="0" y="0"/>
                  </a:moveTo>
                  <a:lnTo>
                    <a:pt x="0" y="48006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23" y="2744724"/>
              <a:ext cx="12192635" cy="990600"/>
            </a:xfrm>
            <a:custGeom>
              <a:avLst/>
              <a:gdLst/>
              <a:ahLst/>
              <a:cxnLst/>
              <a:rect l="l" t="t" r="r" b="b"/>
              <a:pathLst>
                <a:path w="12192635" h="990600">
                  <a:moveTo>
                    <a:pt x="0" y="990600"/>
                  </a:moveTo>
                  <a:lnTo>
                    <a:pt x="5827395" y="990600"/>
                  </a:lnTo>
                </a:path>
                <a:path w="12192635" h="990600">
                  <a:moveTo>
                    <a:pt x="5827776" y="0"/>
                  </a:moveTo>
                  <a:lnTo>
                    <a:pt x="12192381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xfrm>
            <a:off x="917244" y="6448890"/>
            <a:ext cx="7270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1</a:t>
            </a:r>
            <a:r>
              <a:rPr lang="en-US" dirty="0"/>
              <a:t>0</a:t>
            </a:r>
            <a:r>
              <a:rPr dirty="0"/>
              <a:t>-1</a:t>
            </a:r>
            <a:r>
              <a:rPr lang="en-US" dirty="0"/>
              <a:t>1</a:t>
            </a:r>
            <a:r>
              <a:rPr dirty="0"/>
              <a:t>-</a:t>
            </a:r>
            <a:r>
              <a:rPr spc="-20" dirty="0"/>
              <a:t>202</a:t>
            </a:r>
            <a:r>
              <a:rPr lang="en-US" spc="-20" dirty="0"/>
              <a:t>5</a:t>
            </a:r>
            <a:endParaRPr spc="-20" dirty="0"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Review</a:t>
            </a:r>
            <a:r>
              <a:rPr spc="-60" dirty="0"/>
              <a:t> </a:t>
            </a:r>
            <a:r>
              <a:rPr spc="-25" dirty="0"/>
              <a:t>No.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505957" y="6448890"/>
            <a:ext cx="894841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78787"/>
                </a:solidFill>
                <a:latin typeface="Times New Roman"/>
                <a:cs typeface="Times New Roman"/>
              </a:rPr>
              <a:t>Batch</a:t>
            </a:r>
            <a:r>
              <a:rPr sz="1200" spc="-75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78787"/>
                </a:solidFill>
                <a:latin typeface="Times New Roman"/>
                <a:cs typeface="Times New Roman"/>
              </a:rPr>
              <a:t>No.</a:t>
            </a:r>
            <a:r>
              <a:rPr lang="en-US" sz="1200" spc="-25" dirty="0">
                <a:solidFill>
                  <a:srgbClr val="878787"/>
                </a:solidFill>
                <a:latin typeface="Times New Roman"/>
                <a:cs typeface="Times New Roman"/>
              </a:rPr>
              <a:t>CG7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44182" y="6448890"/>
            <a:ext cx="121285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0" dirty="0">
                <a:solidFill>
                  <a:srgbClr val="878787"/>
                </a:solidFill>
                <a:latin typeface="Times New Roman"/>
                <a:cs typeface="Times New Roman"/>
              </a:rPr>
              <a:t>Department </a:t>
            </a:r>
            <a:r>
              <a:rPr sz="1200" dirty="0">
                <a:solidFill>
                  <a:srgbClr val="878787"/>
                </a:solidFill>
                <a:latin typeface="Times New Roman"/>
                <a:cs typeface="Times New Roman"/>
              </a:rPr>
              <a:t>of</a:t>
            </a:r>
            <a:r>
              <a:rPr sz="1200" spc="70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78787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8468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R</a:t>
            </a:r>
            <a:r>
              <a:rPr spc="45" dirty="0"/>
              <a:t>E</a:t>
            </a:r>
            <a:r>
              <a:rPr spc="-45" dirty="0"/>
              <a:t>S</a:t>
            </a:r>
            <a:r>
              <a:rPr spc="20" dirty="0"/>
              <a:t>U</a:t>
            </a:r>
            <a:r>
              <a:rPr spc="-484" dirty="0"/>
              <a:t>L</a:t>
            </a:r>
            <a:r>
              <a:rPr spc="-30" dirty="0"/>
              <a:t>T</a:t>
            </a:r>
            <a:r>
              <a:rPr spc="-20" dirty="0"/>
              <a:t>S</a:t>
            </a:r>
            <a:r>
              <a:rPr spc="-145" dirty="0"/>
              <a:t> </a:t>
            </a:r>
            <a:r>
              <a:rPr spc="-45" dirty="0"/>
              <a:t>&amp;</a:t>
            </a:r>
            <a:r>
              <a:rPr spc="-300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19064" y="1508251"/>
            <a:ext cx="5937885" cy="308930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00330" lvl="1" indent="-97155">
              <a:lnSpc>
                <a:spcPct val="100000"/>
              </a:lnSpc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lang="en-US" sz="2000" dirty="0"/>
              <a:t>All models achieved accuracy above 95%. Random </a:t>
            </a:r>
          </a:p>
          <a:p>
            <a:pPr marL="100330" lvl="1" indent="-97155">
              <a:lnSpc>
                <a:spcPct val="100000"/>
              </a:lnSpc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lang="en-US" sz="2000" dirty="0"/>
              <a:t>Forest performs the best with accuracy close to 99%, implying its strong ability to identify intricate patterns within the dataset.</a:t>
            </a:r>
            <a:endParaRPr lang="en-IN" sz="2000" dirty="0">
              <a:latin typeface="Times New Roman"/>
              <a:cs typeface="Times New Roman"/>
            </a:endParaRPr>
          </a:p>
          <a:p>
            <a:pPr marL="12700" marR="7620" lvl="1" indent="-9525">
              <a:lnSpc>
                <a:spcPct val="100000"/>
              </a:lnSpc>
              <a:buSzPct val="95000"/>
              <a:buFont typeface="Arial MT"/>
              <a:buChar char="•"/>
              <a:tabLst>
                <a:tab pos="100330" algn="l"/>
                <a:tab pos="1311275" algn="l"/>
                <a:tab pos="2308225" algn="l"/>
                <a:tab pos="3512185" algn="l"/>
                <a:tab pos="4530090" algn="l"/>
                <a:tab pos="5018405" algn="l"/>
              </a:tabLst>
            </a:pPr>
            <a:r>
              <a:rPr lang="en-US" sz="2000" b="1" dirty="0"/>
              <a:t>XGBoost, ANN, and SVM</a:t>
            </a:r>
            <a:r>
              <a:rPr lang="en-US" sz="2000" dirty="0"/>
              <a:t> showed high and stable performance</a:t>
            </a:r>
            <a:r>
              <a:rPr sz="2000" spc="-10" dirty="0">
                <a:latin typeface="Times New Roman"/>
                <a:cs typeface="Times New Roman"/>
              </a:rPr>
              <a:t>.</a:t>
            </a:r>
            <a:endParaRPr sz="2000" dirty="0">
              <a:latin typeface="Times New Roman"/>
              <a:cs typeface="Times New Roman"/>
            </a:endParaRPr>
          </a:p>
          <a:p>
            <a:pPr marL="100330" lvl="1" indent="-96520">
              <a:lnSpc>
                <a:spcPct val="100000"/>
              </a:lnSpc>
              <a:buSzPct val="95000"/>
              <a:buFont typeface="Arial MT"/>
              <a:buChar char="•"/>
              <a:tabLst>
                <a:tab pos="100330" algn="l"/>
                <a:tab pos="838200" algn="l"/>
                <a:tab pos="1905635" algn="l"/>
                <a:tab pos="2847340" algn="l"/>
                <a:tab pos="3234690" algn="l"/>
                <a:tab pos="4185920" algn="l"/>
                <a:tab pos="5445125" algn="l"/>
              </a:tabLst>
            </a:pPr>
            <a:r>
              <a:rPr lang="en-US" sz="2000" b="1" dirty="0"/>
              <a:t>KNN and Logistic Regression</a:t>
            </a:r>
            <a:r>
              <a:rPr lang="en-US" sz="2000" dirty="0"/>
              <a:t> remained competitive despite being lightweight</a:t>
            </a:r>
            <a:r>
              <a:rPr sz="2000" spc="-10" dirty="0">
                <a:latin typeface="Times New Roman"/>
                <a:cs typeface="Times New Roman"/>
              </a:rPr>
              <a:t>.</a:t>
            </a:r>
            <a:endParaRPr lang="en-US" sz="2000" spc="-10" dirty="0">
              <a:latin typeface="Times New Roman"/>
              <a:cs typeface="Times New Roman"/>
            </a:endParaRPr>
          </a:p>
          <a:p>
            <a:pPr marL="100330" lvl="1" indent="-96520">
              <a:lnSpc>
                <a:spcPct val="100000"/>
              </a:lnSpc>
              <a:buSzPct val="95000"/>
              <a:buFont typeface="Arial MT"/>
              <a:buChar char="•"/>
              <a:tabLst>
                <a:tab pos="100330" algn="l"/>
                <a:tab pos="838200" algn="l"/>
                <a:tab pos="1905635" algn="l"/>
                <a:tab pos="2847340" algn="l"/>
                <a:tab pos="3234690" algn="l"/>
                <a:tab pos="4185920" algn="l"/>
                <a:tab pos="5445125" algn="l"/>
              </a:tabLst>
            </a:pPr>
            <a:r>
              <a:rPr lang="en-US" sz="2000" b="1" dirty="0"/>
              <a:t>Naive Bayes</a:t>
            </a:r>
            <a:r>
              <a:rPr lang="en-US" sz="2000" dirty="0"/>
              <a:t> delivered strong accuracy due to preprocessing and SMOTE balancing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917244" y="6448890"/>
            <a:ext cx="7270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1</a:t>
            </a:r>
            <a:r>
              <a:rPr lang="en-US" dirty="0"/>
              <a:t>0</a:t>
            </a:r>
            <a:r>
              <a:rPr dirty="0"/>
              <a:t>-1</a:t>
            </a:r>
            <a:r>
              <a:rPr lang="en-US" dirty="0"/>
              <a:t>1</a:t>
            </a:r>
            <a:r>
              <a:rPr dirty="0"/>
              <a:t>-</a:t>
            </a:r>
            <a:r>
              <a:rPr spc="-20" dirty="0"/>
              <a:t>202</a:t>
            </a:r>
            <a:r>
              <a:rPr lang="en-US" spc="-20" dirty="0"/>
              <a:t>5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Review</a:t>
            </a:r>
            <a:r>
              <a:rPr spc="-60" dirty="0"/>
              <a:t> </a:t>
            </a:r>
            <a:r>
              <a:rPr spc="-25" dirty="0"/>
              <a:t>No.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505958" y="6448890"/>
            <a:ext cx="22510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tabLst>
                <a:tab pos="1050290" algn="l"/>
              </a:tabLst>
            </a:pPr>
            <a:r>
              <a:rPr sz="1200" dirty="0">
                <a:solidFill>
                  <a:srgbClr val="878787"/>
                </a:solidFill>
                <a:latin typeface="Times New Roman"/>
                <a:cs typeface="Times New Roman"/>
              </a:rPr>
              <a:t>Batch</a:t>
            </a:r>
            <a:r>
              <a:rPr sz="1200" spc="-75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Times New Roman"/>
                <a:cs typeface="Times New Roman"/>
              </a:rPr>
              <a:t>No.</a:t>
            </a:r>
            <a:r>
              <a:rPr lang="en-US" sz="1200" spc="-10" dirty="0">
                <a:solidFill>
                  <a:srgbClr val="878787"/>
                </a:solidFill>
                <a:latin typeface="Times New Roman"/>
                <a:cs typeface="Times New Roman"/>
              </a:rPr>
              <a:t>CG7</a:t>
            </a:r>
            <a:r>
              <a:rPr sz="1200" dirty="0">
                <a:solidFill>
                  <a:srgbClr val="878787"/>
                </a:solidFill>
                <a:latin typeface="Times New Roman"/>
                <a:cs typeface="Times New Roman"/>
              </a:rPr>
              <a:t>	</a:t>
            </a:r>
            <a:r>
              <a:rPr sz="1200" spc="-20" dirty="0">
                <a:solidFill>
                  <a:srgbClr val="878787"/>
                </a:solidFill>
                <a:latin typeface="Times New Roman"/>
                <a:cs typeface="Times New Roman"/>
              </a:rPr>
              <a:t>Department </a:t>
            </a:r>
            <a:r>
              <a:rPr sz="1200" dirty="0">
                <a:solidFill>
                  <a:srgbClr val="878787"/>
                </a:solidFill>
                <a:latin typeface="Times New Roman"/>
                <a:cs typeface="Times New Roman"/>
              </a:rPr>
              <a:t>of</a:t>
            </a:r>
            <a:r>
              <a:rPr sz="1200" spc="70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78787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E034CCED-25DE-5F14-C82F-847D1A9130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913" y="1295400"/>
            <a:ext cx="5196687" cy="4724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8468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R</a:t>
            </a:r>
            <a:r>
              <a:rPr spc="45" dirty="0"/>
              <a:t>E</a:t>
            </a:r>
            <a:r>
              <a:rPr spc="-45" dirty="0"/>
              <a:t>S</a:t>
            </a:r>
            <a:r>
              <a:rPr spc="20" dirty="0"/>
              <a:t>U</a:t>
            </a:r>
            <a:r>
              <a:rPr spc="-484" dirty="0"/>
              <a:t>L</a:t>
            </a:r>
            <a:r>
              <a:rPr spc="-30" dirty="0"/>
              <a:t>T</a:t>
            </a:r>
            <a:r>
              <a:rPr spc="-20" dirty="0"/>
              <a:t>S</a:t>
            </a:r>
            <a:r>
              <a:rPr spc="-145" dirty="0"/>
              <a:t> </a:t>
            </a:r>
            <a:r>
              <a:rPr spc="-45" dirty="0"/>
              <a:t>&amp;</a:t>
            </a:r>
            <a:r>
              <a:rPr spc="-300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5212841" y="1745742"/>
            <a:ext cx="6598284" cy="308930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00330" indent="-97155">
              <a:lnSpc>
                <a:spcPct val="100000"/>
              </a:lnSpc>
              <a:spcBef>
                <a:spcPts val="90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lang="en-IN" dirty="0"/>
              <a:t>Seven ML models evaluated: </a:t>
            </a:r>
            <a:r>
              <a:rPr lang="en-IN" b="1" dirty="0"/>
              <a:t>Logistic Regression, SVM, Random Forest, Naive Bayes, KNN, XGBoost, ANN</a:t>
            </a:r>
            <a:r>
              <a:rPr spc="-10" dirty="0"/>
              <a:t>.</a:t>
            </a:r>
          </a:p>
          <a:p>
            <a:pPr marL="100330" indent="-97155">
              <a:lnSpc>
                <a:spcPct val="100000"/>
              </a:lnSpc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b="1" spc="-10" dirty="0">
                <a:latin typeface="Times New Roman"/>
                <a:cs typeface="Times New Roman"/>
              </a:rPr>
              <a:t>X-</a:t>
            </a:r>
            <a:r>
              <a:rPr b="1" dirty="0">
                <a:latin typeface="Times New Roman"/>
                <a:cs typeface="Times New Roman"/>
              </a:rPr>
              <a:t>axis:</a:t>
            </a:r>
            <a:r>
              <a:rPr b="1" spc="-30" dirty="0">
                <a:latin typeface="Times New Roman"/>
                <a:cs typeface="Times New Roman"/>
              </a:rPr>
              <a:t> </a:t>
            </a:r>
            <a:r>
              <a:rPr lang="en-US" spc="-30" dirty="0">
                <a:latin typeface="Times New Roman"/>
                <a:cs typeface="Times New Roman"/>
              </a:rPr>
              <a:t>Models</a:t>
            </a:r>
            <a:endParaRPr spc="-10" dirty="0"/>
          </a:p>
          <a:p>
            <a:pPr marL="100330" indent="-96520">
              <a:lnSpc>
                <a:spcPct val="100000"/>
              </a:lnSpc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b="1" spc="-10" dirty="0">
                <a:latin typeface="Times New Roman"/>
                <a:cs typeface="Times New Roman"/>
              </a:rPr>
              <a:t>Y-</a:t>
            </a:r>
            <a:r>
              <a:rPr b="1" dirty="0">
                <a:latin typeface="Times New Roman"/>
                <a:cs typeface="Times New Roman"/>
              </a:rPr>
              <a:t>axis:</a:t>
            </a:r>
            <a:r>
              <a:rPr b="1" spc="-30" dirty="0">
                <a:latin typeface="Times New Roman"/>
                <a:cs typeface="Times New Roman"/>
              </a:rPr>
              <a:t> </a:t>
            </a:r>
            <a:r>
              <a:rPr lang="en-US" spc="-30" dirty="0"/>
              <a:t>Score</a:t>
            </a:r>
            <a:endParaRPr spc="-10" dirty="0"/>
          </a:p>
          <a:p>
            <a:pPr marL="100330" indent="-97155">
              <a:lnSpc>
                <a:spcPct val="100000"/>
              </a:lnSpc>
              <a:spcBef>
                <a:spcPts val="5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lang="en-US" dirty="0"/>
              <a:t>Minimal variation among precision, recall, and F1-score indicates balanced predictions with few false positives/negatives</a:t>
            </a:r>
            <a:r>
              <a:rPr spc="-10" dirty="0"/>
              <a:t>.</a:t>
            </a:r>
          </a:p>
          <a:p>
            <a:pPr marL="12700" marR="8255" indent="-9525">
              <a:lnSpc>
                <a:spcPct val="100000"/>
              </a:lnSpc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dirty="0"/>
              <a:t>	</a:t>
            </a:r>
            <a:r>
              <a:rPr lang="en-US" dirty="0"/>
              <a:t>Logistic Regression and Naive Bayes perform well but slightly behind ensemble and deep learning models</a:t>
            </a:r>
            <a:r>
              <a:rPr spc="-10" dirty="0"/>
              <a:t>.</a:t>
            </a:r>
          </a:p>
          <a:p>
            <a:pPr marL="76200">
              <a:lnSpc>
                <a:spcPct val="100000"/>
              </a:lnSpc>
              <a:spcBef>
                <a:spcPts val="5"/>
              </a:spcBef>
            </a:pP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917244" y="6448890"/>
            <a:ext cx="7270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1</a:t>
            </a:r>
            <a:r>
              <a:rPr lang="en-US" dirty="0"/>
              <a:t>0</a:t>
            </a:r>
            <a:r>
              <a:rPr dirty="0"/>
              <a:t>-1</a:t>
            </a:r>
            <a:r>
              <a:rPr lang="en-US" dirty="0"/>
              <a:t>1</a:t>
            </a:r>
            <a:r>
              <a:rPr dirty="0"/>
              <a:t>-</a:t>
            </a:r>
            <a:r>
              <a:rPr spc="-20" dirty="0"/>
              <a:t>20</a:t>
            </a:r>
            <a:r>
              <a:rPr lang="en-US" spc="-20" dirty="0"/>
              <a:t>25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Review</a:t>
            </a:r>
            <a:r>
              <a:rPr spc="-60" dirty="0"/>
              <a:t> </a:t>
            </a:r>
            <a:r>
              <a:rPr spc="-25" dirty="0"/>
              <a:t>No.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505958" y="6448890"/>
            <a:ext cx="22510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tabLst>
                <a:tab pos="1050290" algn="l"/>
              </a:tabLst>
            </a:pPr>
            <a:r>
              <a:rPr sz="1200" dirty="0">
                <a:solidFill>
                  <a:srgbClr val="878787"/>
                </a:solidFill>
                <a:latin typeface="Times New Roman"/>
                <a:cs typeface="Times New Roman"/>
              </a:rPr>
              <a:t>Batch</a:t>
            </a:r>
            <a:r>
              <a:rPr sz="1200" spc="-75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Times New Roman"/>
                <a:cs typeface="Times New Roman"/>
              </a:rPr>
              <a:t>No.</a:t>
            </a:r>
            <a:r>
              <a:rPr lang="en-US" sz="1200" spc="-10" dirty="0">
                <a:solidFill>
                  <a:srgbClr val="878787"/>
                </a:solidFill>
                <a:latin typeface="Times New Roman"/>
                <a:cs typeface="Times New Roman"/>
              </a:rPr>
              <a:t>CG7</a:t>
            </a:r>
            <a:r>
              <a:rPr sz="1200" dirty="0">
                <a:solidFill>
                  <a:srgbClr val="878787"/>
                </a:solidFill>
                <a:latin typeface="Times New Roman"/>
                <a:cs typeface="Times New Roman"/>
              </a:rPr>
              <a:t>	</a:t>
            </a:r>
            <a:r>
              <a:rPr sz="1200" spc="-20" dirty="0">
                <a:solidFill>
                  <a:srgbClr val="878787"/>
                </a:solidFill>
                <a:latin typeface="Times New Roman"/>
                <a:cs typeface="Times New Roman"/>
              </a:rPr>
              <a:t>Department </a:t>
            </a:r>
            <a:r>
              <a:rPr sz="1200" dirty="0">
                <a:solidFill>
                  <a:srgbClr val="878787"/>
                </a:solidFill>
                <a:latin typeface="Times New Roman"/>
                <a:cs typeface="Times New Roman"/>
              </a:rPr>
              <a:t>of</a:t>
            </a:r>
            <a:r>
              <a:rPr sz="1200" spc="70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78787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D1066FDE-1495-D18E-34C5-181450F128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045" y="1524000"/>
            <a:ext cx="4853730" cy="4267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8468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R</a:t>
            </a:r>
            <a:r>
              <a:rPr spc="45" dirty="0"/>
              <a:t>E</a:t>
            </a:r>
            <a:r>
              <a:rPr spc="-45" dirty="0"/>
              <a:t>S</a:t>
            </a:r>
            <a:r>
              <a:rPr spc="20" dirty="0"/>
              <a:t>U</a:t>
            </a:r>
            <a:r>
              <a:rPr spc="-484" dirty="0"/>
              <a:t>L</a:t>
            </a:r>
            <a:r>
              <a:rPr spc="-30" dirty="0"/>
              <a:t>T</a:t>
            </a:r>
            <a:r>
              <a:rPr spc="-20" dirty="0"/>
              <a:t>S</a:t>
            </a:r>
            <a:r>
              <a:rPr spc="-145" dirty="0"/>
              <a:t> </a:t>
            </a:r>
            <a:r>
              <a:rPr spc="-45" dirty="0"/>
              <a:t>&amp;</a:t>
            </a:r>
            <a:r>
              <a:rPr spc="-300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268213" y="1319606"/>
            <a:ext cx="5813425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en-US" sz="2000" dirty="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buSzPct val="95000"/>
              <a:buFont typeface="Arial MT"/>
              <a:buChar char="•"/>
              <a:tabLst>
                <a:tab pos="100330" algn="l"/>
                <a:tab pos="741045" algn="l"/>
                <a:tab pos="2378075" algn="l"/>
                <a:tab pos="3987800" algn="l"/>
              </a:tabLst>
            </a:pPr>
            <a:r>
              <a:rPr lang="en-US" sz="2000" b="1" spc="-25" dirty="0">
                <a:latin typeface="Times New Roman"/>
                <a:cs typeface="Times New Roman"/>
              </a:rPr>
              <a:t>Metrics Used:</a:t>
            </a:r>
            <a:r>
              <a:rPr lang="en-US" sz="2000" spc="-25" dirty="0">
                <a:latin typeface="Times New Roman"/>
                <a:cs typeface="Times New Roman"/>
              </a:rPr>
              <a:t>Accuracy,Precision,Recall,F1-Score</a:t>
            </a:r>
            <a:r>
              <a:rPr lang="en-IN" sz="2000" b="1" dirty="0">
                <a:latin typeface="Times New Roman"/>
                <a:cs typeface="Times New Roman"/>
              </a:rPr>
              <a:t>	</a:t>
            </a:r>
            <a:endParaRPr lang="en-IN" sz="2000" spc="-1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917244" y="6448890"/>
            <a:ext cx="7270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1</a:t>
            </a:r>
            <a:r>
              <a:rPr lang="en-US" dirty="0"/>
              <a:t>0</a:t>
            </a:r>
            <a:r>
              <a:rPr dirty="0"/>
              <a:t>-1</a:t>
            </a:r>
            <a:r>
              <a:rPr lang="en-US" dirty="0"/>
              <a:t>1</a:t>
            </a:r>
            <a:r>
              <a:rPr dirty="0"/>
              <a:t>-</a:t>
            </a:r>
            <a:r>
              <a:rPr spc="-20" dirty="0"/>
              <a:t>202</a:t>
            </a:r>
            <a:r>
              <a:rPr lang="en-US" spc="-20" dirty="0"/>
              <a:t>5</a:t>
            </a:r>
            <a:endParaRPr spc="-20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Review</a:t>
            </a:r>
            <a:r>
              <a:rPr spc="-60" dirty="0"/>
              <a:t> </a:t>
            </a:r>
            <a:r>
              <a:rPr spc="-25" dirty="0"/>
              <a:t>No.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505958" y="6448890"/>
            <a:ext cx="22510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tabLst>
                <a:tab pos="1050290" algn="l"/>
              </a:tabLst>
            </a:pPr>
            <a:r>
              <a:rPr sz="1200" dirty="0">
                <a:solidFill>
                  <a:srgbClr val="878787"/>
                </a:solidFill>
                <a:latin typeface="Times New Roman"/>
                <a:cs typeface="Times New Roman"/>
              </a:rPr>
              <a:t>Batch</a:t>
            </a:r>
            <a:r>
              <a:rPr sz="1200" spc="-75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Times New Roman"/>
                <a:cs typeface="Times New Roman"/>
              </a:rPr>
              <a:t>No.</a:t>
            </a:r>
            <a:r>
              <a:rPr lang="en-US" sz="1200" spc="-10" dirty="0">
                <a:solidFill>
                  <a:srgbClr val="878787"/>
                </a:solidFill>
                <a:latin typeface="Times New Roman"/>
                <a:cs typeface="Times New Roman"/>
              </a:rPr>
              <a:t>CG7</a:t>
            </a:r>
            <a:r>
              <a:rPr sz="1200" dirty="0">
                <a:solidFill>
                  <a:srgbClr val="878787"/>
                </a:solidFill>
                <a:latin typeface="Times New Roman"/>
                <a:cs typeface="Times New Roman"/>
              </a:rPr>
              <a:t>	</a:t>
            </a:r>
            <a:r>
              <a:rPr sz="1200" spc="-20" dirty="0">
                <a:solidFill>
                  <a:srgbClr val="878787"/>
                </a:solidFill>
                <a:latin typeface="Times New Roman"/>
                <a:cs typeface="Times New Roman"/>
              </a:rPr>
              <a:t>Department </a:t>
            </a:r>
            <a:r>
              <a:rPr sz="1200" dirty="0">
                <a:solidFill>
                  <a:srgbClr val="878787"/>
                </a:solidFill>
                <a:latin typeface="Times New Roman"/>
                <a:cs typeface="Times New Roman"/>
              </a:rPr>
              <a:t>of</a:t>
            </a:r>
            <a:r>
              <a:rPr sz="1200" spc="70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78787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5268214" y="2234945"/>
            <a:ext cx="6628765" cy="278153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00330" indent="-97155">
              <a:lnSpc>
                <a:spcPct val="100000"/>
              </a:lnSpc>
              <a:spcBef>
                <a:spcPts val="5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lang="en-US" sz="2000" b="1" dirty="0"/>
              <a:t>Random Forest</a:t>
            </a:r>
            <a:r>
              <a:rPr lang="en-US" sz="2000" dirty="0"/>
              <a:t> achieved the best performance with </a:t>
            </a:r>
            <a:r>
              <a:rPr lang="en-US" sz="2000" b="1" dirty="0"/>
              <a:t>99% accuracy</a:t>
            </a:r>
            <a:r>
              <a:rPr lang="en-US" sz="2000" dirty="0"/>
              <a:t>.</a:t>
            </a:r>
          </a:p>
          <a:p>
            <a:pPr marL="100330" indent="-97155">
              <a:lnSpc>
                <a:spcPct val="100000"/>
              </a:lnSpc>
              <a:spcBef>
                <a:spcPts val="5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lang="en-US" sz="2000" dirty="0"/>
              <a:t>Confusion matrix shows strong diagonal dominance, indicating </a:t>
            </a:r>
            <a:r>
              <a:rPr lang="en-US" sz="2000" b="1" dirty="0"/>
              <a:t>high predictive reliability</a:t>
            </a:r>
            <a:r>
              <a:rPr lang="en-US" sz="2000" dirty="0"/>
              <a:t> for CKD prognosis.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ts val="2390"/>
              </a:lnSpc>
              <a:spcBef>
                <a:spcPts val="25"/>
              </a:spcBef>
            </a:pPr>
            <a:r>
              <a:rPr sz="2000" dirty="0">
                <a:latin typeface="Segoe UI Symbol"/>
                <a:cs typeface="Segoe UI Symbol"/>
              </a:rPr>
              <a:t>✅</a:t>
            </a:r>
            <a:r>
              <a:rPr sz="2000" spc="-65" dirty="0">
                <a:latin typeface="Segoe UI Symbol"/>
                <a:cs typeface="Segoe UI Symbol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Conclusion</a:t>
            </a:r>
            <a:r>
              <a:rPr lang="en-US" sz="2000" i="1" spc="-10" dirty="0">
                <a:latin typeface="Times New Roman"/>
                <a:cs typeface="Times New Roman"/>
              </a:rPr>
              <a:t>:</a:t>
            </a:r>
            <a:endParaRPr sz="2000" dirty="0">
              <a:latin typeface="Times New Roman"/>
              <a:cs typeface="Times New Roman"/>
            </a:endParaRPr>
          </a:p>
          <a:p>
            <a:pPr marL="100330" indent="-96520">
              <a:lnSpc>
                <a:spcPts val="2390"/>
              </a:lnSpc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lang="en-US" sz="2000" dirty="0"/>
              <a:t>The proposed framework effectively predicts CKD with high accuracy and reliability, leveraging feature selection, class balancing, and explainable AI, making it suitable for practical clinical use</a:t>
            </a:r>
            <a:r>
              <a:rPr sz="2000" spc="-10" dirty="0">
                <a:latin typeface="Times New Roman"/>
                <a:cs typeface="Times New Roman"/>
              </a:rPr>
              <a:t>.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B5EDA3BC-43BD-D67F-D891-68548947C8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1" y="1147444"/>
            <a:ext cx="4288282" cy="456311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21282" y="613105"/>
            <a:ext cx="924941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CONCLUSION</a:t>
            </a:r>
            <a:r>
              <a:rPr spc="-175" dirty="0"/>
              <a:t> </a:t>
            </a:r>
            <a:r>
              <a:rPr dirty="0"/>
              <a:t>and</a:t>
            </a:r>
            <a:r>
              <a:rPr spc="-190" dirty="0"/>
              <a:t> </a:t>
            </a:r>
            <a:r>
              <a:rPr spc="-10" dirty="0"/>
              <a:t>FUTURE</a:t>
            </a:r>
            <a:r>
              <a:rPr spc="-210" dirty="0"/>
              <a:t> </a:t>
            </a:r>
            <a:r>
              <a:rPr spc="-10" dirty="0"/>
              <a:t>SCOPE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244" y="6448890"/>
            <a:ext cx="7270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1</a:t>
            </a:r>
            <a:r>
              <a:rPr lang="en-US" dirty="0"/>
              <a:t>0</a:t>
            </a:r>
            <a:r>
              <a:rPr dirty="0"/>
              <a:t>-1</a:t>
            </a:r>
            <a:r>
              <a:rPr lang="en-US" dirty="0"/>
              <a:t>1</a:t>
            </a:r>
            <a:r>
              <a:rPr dirty="0"/>
              <a:t>-</a:t>
            </a:r>
            <a:r>
              <a:rPr spc="-20" dirty="0"/>
              <a:t>202</a:t>
            </a:r>
            <a:r>
              <a:rPr lang="en-US" spc="-20" dirty="0"/>
              <a:t>5</a:t>
            </a: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Review</a:t>
            </a:r>
            <a:r>
              <a:rPr spc="-60" dirty="0"/>
              <a:t> </a:t>
            </a:r>
            <a:r>
              <a:rPr spc="-25" dirty="0"/>
              <a:t>No.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05958" y="6448890"/>
            <a:ext cx="22510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tabLst>
                <a:tab pos="1050290" algn="l"/>
              </a:tabLst>
            </a:pPr>
            <a:r>
              <a:rPr sz="1200" dirty="0">
                <a:solidFill>
                  <a:srgbClr val="878787"/>
                </a:solidFill>
                <a:latin typeface="Times New Roman"/>
                <a:cs typeface="Times New Roman"/>
              </a:rPr>
              <a:t>Batch</a:t>
            </a:r>
            <a:r>
              <a:rPr sz="1200" spc="-75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Times New Roman"/>
                <a:cs typeface="Times New Roman"/>
              </a:rPr>
              <a:t>No.</a:t>
            </a:r>
            <a:r>
              <a:rPr lang="en-US" sz="1200" spc="-10" dirty="0">
                <a:solidFill>
                  <a:srgbClr val="878787"/>
                </a:solidFill>
                <a:latin typeface="Times New Roman"/>
                <a:cs typeface="Times New Roman"/>
              </a:rPr>
              <a:t>CG7</a:t>
            </a:r>
            <a:r>
              <a:rPr sz="1200" dirty="0">
                <a:solidFill>
                  <a:srgbClr val="878787"/>
                </a:solidFill>
                <a:latin typeface="Times New Roman"/>
                <a:cs typeface="Times New Roman"/>
              </a:rPr>
              <a:t>	</a:t>
            </a:r>
            <a:r>
              <a:rPr sz="1200" spc="-20" dirty="0">
                <a:solidFill>
                  <a:srgbClr val="878787"/>
                </a:solidFill>
                <a:latin typeface="Times New Roman"/>
                <a:cs typeface="Times New Roman"/>
              </a:rPr>
              <a:t>Department </a:t>
            </a:r>
            <a:r>
              <a:rPr sz="1200" dirty="0">
                <a:solidFill>
                  <a:srgbClr val="878787"/>
                </a:solidFill>
                <a:latin typeface="Times New Roman"/>
                <a:cs typeface="Times New Roman"/>
              </a:rPr>
              <a:t>of</a:t>
            </a:r>
            <a:r>
              <a:rPr sz="1200" spc="70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78787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62204" y="1299463"/>
            <a:ext cx="11158855" cy="44454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dirty="0">
                <a:latin typeface="Times New Roman"/>
                <a:cs typeface="Times New Roman"/>
              </a:rPr>
              <a:t>Key</a:t>
            </a:r>
            <a:r>
              <a:rPr sz="2300" b="1" spc="-35" dirty="0">
                <a:latin typeface="Times New Roman"/>
                <a:cs typeface="Times New Roman"/>
              </a:rPr>
              <a:t> </a:t>
            </a:r>
            <a:r>
              <a:rPr sz="2300" b="1" spc="-10" dirty="0">
                <a:latin typeface="Times New Roman"/>
                <a:cs typeface="Times New Roman"/>
              </a:rPr>
              <a:t>Findings</a:t>
            </a:r>
            <a:endParaRPr lang="en-US" sz="2300" dirty="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buFont typeface="Arial MT"/>
              <a:buChar char="•"/>
              <a:tabLst>
                <a:tab pos="356870" algn="l"/>
              </a:tabLst>
            </a:pPr>
            <a:r>
              <a:rPr lang="en-US" sz="2200" dirty="0"/>
              <a:t>Integrating diverse features improves CKD prediction accuracy.</a:t>
            </a:r>
            <a:endParaRPr lang="en-US" sz="2200" dirty="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buFont typeface="Arial MT"/>
              <a:buChar char="•"/>
              <a:tabLst>
                <a:tab pos="356870" algn="l"/>
              </a:tabLst>
            </a:pPr>
            <a:r>
              <a:rPr lang="en-US" sz="2200" dirty="0"/>
              <a:t>SMOTE and advanced feature selection enhance model performance on imbalanced data.</a:t>
            </a:r>
            <a:r>
              <a:rPr sz="2200" spc="-10" dirty="0">
                <a:latin typeface="Times New Roman"/>
                <a:cs typeface="Times New Roman"/>
              </a:rPr>
              <a:t>.</a:t>
            </a:r>
            <a:endParaRPr lang="en-US" sz="2200" dirty="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6870" algn="l"/>
              </a:tabLst>
            </a:pPr>
            <a:r>
              <a:rPr lang="en-US" sz="2200" dirty="0"/>
              <a:t>Decentralized training with explainable AI provides secure, interpretable predictions.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356870" algn="l"/>
              </a:tabLst>
            </a:pPr>
            <a:endParaRPr sz="2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300" b="1" dirty="0">
                <a:latin typeface="Times New Roman"/>
                <a:cs typeface="Times New Roman"/>
              </a:rPr>
              <a:t>Significance</a:t>
            </a:r>
            <a:r>
              <a:rPr sz="2300" b="1" spc="-80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of</a:t>
            </a:r>
            <a:r>
              <a:rPr sz="2300" b="1" spc="-40" dirty="0">
                <a:latin typeface="Times New Roman"/>
                <a:cs typeface="Times New Roman"/>
              </a:rPr>
              <a:t> </a:t>
            </a:r>
            <a:r>
              <a:rPr sz="2300" b="1" spc="-10" dirty="0">
                <a:latin typeface="Times New Roman"/>
                <a:cs typeface="Times New Roman"/>
              </a:rPr>
              <a:t>Results</a:t>
            </a:r>
            <a:endParaRPr sz="2300" dirty="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6870" algn="l"/>
              </a:tabLst>
            </a:pPr>
            <a:r>
              <a:rPr lang="en-US" sz="2200" dirty="0"/>
              <a:t>Demonstrates improved accuracy and reliability in CKD prediction using integrated features.</a:t>
            </a:r>
            <a:endParaRPr sz="2200" dirty="0">
              <a:latin typeface="Times New Roman"/>
              <a:cs typeface="Times New Roman"/>
            </a:endParaRPr>
          </a:p>
          <a:p>
            <a:pPr marL="356870" marR="820419" indent="-344805">
              <a:lnSpc>
                <a:spcPct val="100000"/>
              </a:lnSpc>
              <a:buFont typeface="Arial MT"/>
              <a:buChar char="•"/>
              <a:tabLst>
                <a:tab pos="356870" algn="l"/>
              </a:tabLst>
            </a:pPr>
            <a:r>
              <a:rPr lang="en-US" sz="2200" dirty="0"/>
              <a:t>Highlights the effectiveness of handling class imbalance and feature selection in real-world datasets</a:t>
            </a:r>
            <a:r>
              <a:rPr sz="2200" spc="-10" dirty="0">
                <a:latin typeface="Times New Roman"/>
                <a:cs typeface="Times New Roman"/>
              </a:rPr>
              <a:t>.</a:t>
            </a:r>
            <a:endParaRPr sz="2200" dirty="0">
              <a:latin typeface="Times New Roman"/>
              <a:cs typeface="Times New Roman"/>
            </a:endParaRPr>
          </a:p>
          <a:p>
            <a:pPr marL="356870" marR="534670" indent="-344805">
              <a:lnSpc>
                <a:spcPct val="100000"/>
              </a:lnSpc>
              <a:buFont typeface="Arial MT"/>
              <a:buChar char="•"/>
              <a:tabLst>
                <a:tab pos="356870" algn="l"/>
              </a:tabLst>
            </a:pPr>
            <a:r>
              <a:rPr lang="en-US" sz="2200" dirty="0"/>
              <a:t>Validates the potential of secure, decentralized, and interpretable AI for clinical decision support</a:t>
            </a:r>
            <a:r>
              <a:rPr sz="2200" spc="-10" dirty="0">
                <a:latin typeface="Times New Roman"/>
                <a:cs typeface="Times New Roman"/>
              </a:rPr>
              <a:t>.</a:t>
            </a:r>
            <a:endParaRPr sz="2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CONCLUSION</a:t>
            </a:r>
            <a:r>
              <a:rPr spc="-175" dirty="0"/>
              <a:t> </a:t>
            </a:r>
            <a:r>
              <a:rPr dirty="0"/>
              <a:t>and</a:t>
            </a:r>
            <a:r>
              <a:rPr spc="-190" dirty="0"/>
              <a:t> </a:t>
            </a:r>
            <a:r>
              <a:rPr spc="-10" dirty="0"/>
              <a:t>FUTURE</a:t>
            </a:r>
            <a:r>
              <a:rPr spc="-210" dirty="0"/>
              <a:t> </a:t>
            </a:r>
            <a:r>
              <a:rPr spc="-10" dirty="0"/>
              <a:t>SCOPE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244" y="6448890"/>
            <a:ext cx="7270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1</a:t>
            </a:r>
            <a:r>
              <a:rPr lang="en-US" dirty="0"/>
              <a:t>0</a:t>
            </a:r>
            <a:r>
              <a:rPr dirty="0"/>
              <a:t>-1</a:t>
            </a:r>
            <a:r>
              <a:rPr lang="en-US" dirty="0"/>
              <a:t>1</a:t>
            </a:r>
            <a:r>
              <a:rPr dirty="0"/>
              <a:t>-</a:t>
            </a:r>
            <a:r>
              <a:rPr spc="-20" dirty="0"/>
              <a:t>202</a:t>
            </a:r>
            <a:r>
              <a:rPr lang="en-US" spc="-20" dirty="0"/>
              <a:t>5</a:t>
            </a: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Review</a:t>
            </a:r>
            <a:r>
              <a:rPr spc="-60" dirty="0"/>
              <a:t> </a:t>
            </a:r>
            <a:r>
              <a:rPr spc="-25" dirty="0"/>
              <a:t>No.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05958" y="6448890"/>
            <a:ext cx="22510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tabLst>
                <a:tab pos="1050290" algn="l"/>
              </a:tabLst>
            </a:pPr>
            <a:r>
              <a:rPr sz="1200" dirty="0">
                <a:solidFill>
                  <a:srgbClr val="878787"/>
                </a:solidFill>
                <a:latin typeface="Times New Roman"/>
                <a:cs typeface="Times New Roman"/>
              </a:rPr>
              <a:t>Batch</a:t>
            </a:r>
            <a:r>
              <a:rPr sz="1200" spc="-75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Times New Roman"/>
                <a:cs typeface="Times New Roman"/>
              </a:rPr>
              <a:t>No.</a:t>
            </a:r>
            <a:r>
              <a:rPr lang="en-US" sz="1200" spc="-10" dirty="0">
                <a:solidFill>
                  <a:srgbClr val="878787"/>
                </a:solidFill>
                <a:latin typeface="Times New Roman"/>
                <a:cs typeface="Times New Roman"/>
              </a:rPr>
              <a:t>CG7</a:t>
            </a:r>
            <a:r>
              <a:rPr sz="1200" dirty="0">
                <a:solidFill>
                  <a:srgbClr val="878787"/>
                </a:solidFill>
                <a:latin typeface="Times New Roman"/>
                <a:cs typeface="Times New Roman"/>
              </a:rPr>
              <a:t>	</a:t>
            </a:r>
            <a:r>
              <a:rPr sz="1200" spc="-20" dirty="0">
                <a:solidFill>
                  <a:srgbClr val="878787"/>
                </a:solidFill>
                <a:latin typeface="Times New Roman"/>
                <a:cs typeface="Times New Roman"/>
              </a:rPr>
              <a:t>Department </a:t>
            </a:r>
            <a:r>
              <a:rPr sz="1200" dirty="0">
                <a:solidFill>
                  <a:srgbClr val="878787"/>
                </a:solidFill>
                <a:latin typeface="Times New Roman"/>
                <a:cs typeface="Times New Roman"/>
              </a:rPr>
              <a:t>of</a:t>
            </a:r>
            <a:r>
              <a:rPr sz="1200" spc="70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78787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20700" y="1561591"/>
            <a:ext cx="10890250" cy="34503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dirty="0">
                <a:latin typeface="Times New Roman"/>
                <a:cs typeface="Times New Roman"/>
              </a:rPr>
              <a:t>Future</a:t>
            </a:r>
            <a:r>
              <a:rPr sz="2300" b="1" spc="-40" dirty="0">
                <a:latin typeface="Times New Roman"/>
                <a:cs typeface="Times New Roman"/>
              </a:rPr>
              <a:t> </a:t>
            </a:r>
            <a:r>
              <a:rPr sz="2300" b="1" spc="-10" dirty="0">
                <a:latin typeface="Times New Roman"/>
                <a:cs typeface="Times New Roman"/>
              </a:rPr>
              <a:t>Developments</a:t>
            </a:r>
            <a:endParaRPr sz="2300" dirty="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buFont typeface="Arial MT"/>
              <a:buChar char="•"/>
              <a:tabLst>
                <a:tab pos="356870" algn="l"/>
              </a:tabLst>
            </a:pPr>
            <a:r>
              <a:rPr lang="en-US" sz="2200" dirty="0"/>
              <a:t>Multi-modal data integration for improved CKD prediction.</a:t>
            </a:r>
            <a:endParaRPr sz="2200" dirty="0">
              <a:latin typeface="Times New Roman"/>
              <a:cs typeface="Times New Roman"/>
            </a:endParaRPr>
          </a:p>
          <a:p>
            <a:pPr marL="356870" indent="-344170">
              <a:lnSpc>
                <a:spcPts val="2760"/>
              </a:lnSpc>
              <a:buFont typeface="Arial MT"/>
              <a:buChar char="•"/>
              <a:tabLst>
                <a:tab pos="356870" algn="l"/>
              </a:tabLst>
            </a:pPr>
            <a:r>
              <a:rPr lang="en-US" sz="2200" dirty="0"/>
              <a:t>Decentralized, privacy-preserving ML frameworks with enhanced explainability.</a:t>
            </a:r>
            <a:r>
              <a:rPr sz="2200" spc="-10" dirty="0">
                <a:latin typeface="Times New Roman"/>
                <a:cs typeface="Times New Roman"/>
              </a:rPr>
              <a:t>.</a:t>
            </a:r>
            <a:endParaRPr sz="2200" dirty="0">
              <a:latin typeface="Times New Roman"/>
              <a:cs typeface="Times New Roman"/>
            </a:endParaRPr>
          </a:p>
          <a:p>
            <a:pPr marL="356870" marR="5080" indent="-344805">
              <a:lnSpc>
                <a:spcPct val="100000"/>
              </a:lnSpc>
              <a:buFont typeface="Arial MT"/>
              <a:buChar char="•"/>
              <a:tabLst>
                <a:tab pos="356870" algn="l"/>
              </a:tabLst>
            </a:pPr>
            <a:r>
              <a:rPr lang="en-US" sz="2200" dirty="0"/>
              <a:t>Real-time, non-invasive kidney monitoring using advanced sensors.</a:t>
            </a:r>
          </a:p>
          <a:p>
            <a:pPr marL="356870" marR="5080" indent="-344805">
              <a:lnSpc>
                <a:spcPct val="100000"/>
              </a:lnSpc>
              <a:buFont typeface="Arial MT"/>
              <a:buChar char="•"/>
              <a:tabLst>
                <a:tab pos="356870" algn="l"/>
              </a:tabLst>
            </a:pPr>
            <a:r>
              <a:rPr lang="en-US" sz="2200" dirty="0"/>
              <a:t>Development of real-time, non-invasive sensors for continuous kidney monitoring.</a:t>
            </a:r>
            <a:endParaRPr sz="2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 MT"/>
              <a:buChar char="•"/>
            </a:pPr>
            <a:endParaRPr sz="2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300" b="1" spc="-10" dirty="0">
                <a:latin typeface="Times New Roman"/>
                <a:cs typeface="Times New Roman"/>
              </a:rPr>
              <a:t>Limitations</a:t>
            </a:r>
            <a:endParaRPr sz="2300" dirty="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buFont typeface="Arial MT"/>
              <a:buChar char="•"/>
              <a:tabLst>
                <a:tab pos="356870" algn="l"/>
              </a:tabLst>
            </a:pPr>
            <a:r>
              <a:rPr lang="en-US" sz="2200" dirty="0"/>
              <a:t>Limited feature integration may reduce prediction accuracy.</a:t>
            </a:r>
            <a:endParaRPr sz="2200" dirty="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buFont typeface="Arial MT"/>
              <a:buChar char="•"/>
              <a:tabLst>
                <a:tab pos="356870" algn="l"/>
              </a:tabLst>
            </a:pPr>
            <a:r>
              <a:rPr lang="en-US" sz="2200" dirty="0"/>
              <a:t>Class imbalance can bias model performance toward majority classes.</a:t>
            </a:r>
          </a:p>
          <a:p>
            <a:pPr marL="356870" indent="-344170">
              <a:lnSpc>
                <a:spcPct val="100000"/>
              </a:lnSpc>
              <a:buFont typeface="Arial MT"/>
              <a:buChar char="•"/>
              <a:tabLst>
                <a:tab pos="356870" algn="l"/>
              </a:tabLst>
            </a:pPr>
            <a:r>
              <a:rPr lang="en-US" sz="2200" dirty="0"/>
              <a:t>Current approaches lack full decentralization and interpretability for clinical use.</a:t>
            </a:r>
            <a:endParaRPr sz="2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80738" y="232105"/>
            <a:ext cx="377571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REFERENCES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244" y="6448890"/>
            <a:ext cx="7270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1</a:t>
            </a:r>
            <a:r>
              <a:rPr lang="en-US" dirty="0"/>
              <a:t>0</a:t>
            </a:r>
            <a:r>
              <a:rPr dirty="0"/>
              <a:t>-1</a:t>
            </a:r>
            <a:r>
              <a:rPr lang="en-US" dirty="0"/>
              <a:t>1</a:t>
            </a:r>
            <a:r>
              <a:rPr dirty="0"/>
              <a:t>-</a:t>
            </a:r>
            <a:r>
              <a:rPr spc="-20" dirty="0"/>
              <a:t>202</a:t>
            </a:r>
            <a:r>
              <a:rPr lang="en-US" spc="-20" dirty="0"/>
              <a:t>5</a:t>
            </a: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Review</a:t>
            </a:r>
            <a:r>
              <a:rPr spc="-60" dirty="0"/>
              <a:t> </a:t>
            </a:r>
            <a:r>
              <a:rPr spc="-25" dirty="0"/>
              <a:t>No.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05958" y="6448890"/>
            <a:ext cx="22510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tabLst>
                <a:tab pos="1050290" algn="l"/>
              </a:tabLst>
            </a:pPr>
            <a:r>
              <a:rPr sz="1200" dirty="0">
                <a:solidFill>
                  <a:srgbClr val="878787"/>
                </a:solidFill>
                <a:latin typeface="Times New Roman"/>
                <a:cs typeface="Times New Roman"/>
              </a:rPr>
              <a:t>Batch</a:t>
            </a:r>
            <a:r>
              <a:rPr sz="1200" spc="-75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Times New Roman"/>
                <a:cs typeface="Times New Roman"/>
              </a:rPr>
              <a:t>No.</a:t>
            </a:r>
            <a:r>
              <a:rPr lang="en-US" sz="1200" spc="-10" dirty="0">
                <a:solidFill>
                  <a:srgbClr val="878787"/>
                </a:solidFill>
                <a:latin typeface="Times New Roman"/>
                <a:cs typeface="Times New Roman"/>
              </a:rPr>
              <a:t>CG7</a:t>
            </a:r>
            <a:r>
              <a:rPr sz="1200" dirty="0">
                <a:solidFill>
                  <a:srgbClr val="878787"/>
                </a:solidFill>
                <a:latin typeface="Times New Roman"/>
                <a:cs typeface="Times New Roman"/>
              </a:rPr>
              <a:t>	</a:t>
            </a:r>
            <a:r>
              <a:rPr sz="1200" spc="-20" dirty="0">
                <a:solidFill>
                  <a:srgbClr val="878787"/>
                </a:solidFill>
                <a:latin typeface="Times New Roman"/>
                <a:cs typeface="Times New Roman"/>
              </a:rPr>
              <a:t>Department </a:t>
            </a:r>
            <a:r>
              <a:rPr sz="1200" dirty="0">
                <a:solidFill>
                  <a:srgbClr val="878787"/>
                </a:solidFill>
                <a:latin typeface="Times New Roman"/>
                <a:cs typeface="Times New Roman"/>
              </a:rPr>
              <a:t>of</a:t>
            </a:r>
            <a:r>
              <a:rPr sz="1200" spc="70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78787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03936" y="972769"/>
            <a:ext cx="11245850" cy="502765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7660" indent="-314960">
              <a:lnSpc>
                <a:spcPct val="100000"/>
              </a:lnSpc>
              <a:spcBef>
                <a:spcPts val="105"/>
              </a:spcBef>
              <a:buAutoNum type="arabicPlain"/>
              <a:tabLst>
                <a:tab pos="327660" algn="l"/>
              </a:tabLst>
            </a:pPr>
            <a:r>
              <a:rPr lang="en-US" sz="1600" b="1" dirty="0"/>
              <a:t>Kanasaki et al. (2024):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>Evaluated diabetic kidney disease using albuminuria and eGFR, highlighting early markers for CKD progression.</a:t>
            </a:r>
          </a:p>
          <a:p>
            <a:pPr marL="327660" indent="-314960">
              <a:lnSpc>
                <a:spcPct val="100000"/>
              </a:lnSpc>
              <a:spcBef>
                <a:spcPts val="105"/>
              </a:spcBef>
              <a:buAutoNum type="arabicPlain"/>
              <a:tabLst>
                <a:tab pos="327660" algn="l"/>
              </a:tabLst>
            </a:pPr>
            <a:r>
              <a:rPr lang="en-US" sz="1600" b="1" dirty="0"/>
              <a:t>Elcioglu et al. (2025):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>Studied the impact of asymptomatic kidney stones on ADPKD progression, emphasizing silent contributors to renal deterioration.</a:t>
            </a:r>
          </a:p>
          <a:p>
            <a:pPr marL="327660" indent="-314960">
              <a:lnSpc>
                <a:spcPct val="100000"/>
              </a:lnSpc>
              <a:spcBef>
                <a:spcPts val="105"/>
              </a:spcBef>
              <a:buAutoNum type="arabicPlain"/>
              <a:tabLst>
                <a:tab pos="327660" algn="l"/>
              </a:tabLst>
            </a:pPr>
            <a:r>
              <a:rPr lang="en-US" sz="1600" b="1" dirty="0"/>
              <a:t>Guo et al. (2025):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>Explored the role of non-coding RNAs in acute kidney injury, suggesting potential molecular targets for diagnosis and therapy.</a:t>
            </a:r>
          </a:p>
          <a:p>
            <a:pPr marL="327660" indent="-314960">
              <a:lnSpc>
                <a:spcPct val="100000"/>
              </a:lnSpc>
              <a:spcBef>
                <a:spcPts val="105"/>
              </a:spcBef>
              <a:buAutoNum type="arabicPlain"/>
              <a:tabLst>
                <a:tab pos="327660" algn="l"/>
              </a:tabLst>
            </a:pPr>
            <a:r>
              <a:rPr lang="en-US" sz="1600" b="1" dirty="0"/>
              <a:t>Hart et al. (2025):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>Reviewed cystic fibrosis–related kidney disease, discussing emerging morbidity patterns and management strategies.</a:t>
            </a:r>
          </a:p>
          <a:p>
            <a:pPr marL="327660" indent="-314960">
              <a:lnSpc>
                <a:spcPct val="100000"/>
              </a:lnSpc>
              <a:spcBef>
                <a:spcPts val="105"/>
              </a:spcBef>
              <a:buAutoNum type="arabicPlain"/>
              <a:tabLst>
                <a:tab pos="327660" algn="l"/>
              </a:tabLst>
            </a:pPr>
            <a:r>
              <a:rPr lang="en-US" sz="1600" b="1" dirty="0"/>
              <a:t>Souza et al. (2025):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>Developed a microwave sensor using concentric split-ring resonators for blood urea detection as a novel tool for CKD diagnosis.</a:t>
            </a:r>
          </a:p>
          <a:p>
            <a:pPr marL="327660" indent="-314960">
              <a:lnSpc>
                <a:spcPct val="100000"/>
              </a:lnSpc>
              <a:spcBef>
                <a:spcPts val="105"/>
              </a:spcBef>
              <a:buAutoNum type="arabicPlain"/>
              <a:tabLst>
                <a:tab pos="327660" algn="l"/>
              </a:tabLst>
            </a:pPr>
            <a:r>
              <a:rPr lang="en-US" sz="1600" b="1" dirty="0"/>
              <a:t>Bianchi et al. (2025):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>Conducted a meta-analysis linking pre-eclampsia with subsequent CKD and ESKD, emphasizing long-term renal risks.</a:t>
            </a:r>
          </a:p>
          <a:p>
            <a:pPr marL="327660" indent="-314960">
              <a:lnSpc>
                <a:spcPct val="100000"/>
              </a:lnSpc>
              <a:spcBef>
                <a:spcPts val="105"/>
              </a:spcBef>
              <a:buAutoNum type="arabicPlain"/>
              <a:tabLst>
                <a:tab pos="327660" algn="l"/>
              </a:tabLst>
            </a:pPr>
            <a:r>
              <a:rPr lang="en-US" sz="1600" b="1" dirty="0"/>
              <a:t>Puri et al. (2025):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>Proposed a privacy-first ML framework for CKD prediction using decentralized blockchain and IPFS-based model sharing.</a:t>
            </a:r>
          </a:p>
          <a:p>
            <a:pPr marL="327660" indent="-314960">
              <a:lnSpc>
                <a:spcPct val="100000"/>
              </a:lnSpc>
              <a:spcBef>
                <a:spcPts val="105"/>
              </a:spcBef>
              <a:buAutoNum type="arabicPlain"/>
              <a:tabLst>
                <a:tab pos="327660" algn="l"/>
              </a:tabLst>
            </a:pPr>
            <a:r>
              <a:rPr lang="en-US" sz="1600" b="1" dirty="0"/>
              <a:t>Zhao et al. (2025):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>Introduced a deep belief network combined with rule-based reasoning for improved CKD diagnosis accuracy.</a:t>
            </a:r>
            <a:endParaRPr sz="17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80738" y="232105"/>
            <a:ext cx="377571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REFERENCES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244" y="6448890"/>
            <a:ext cx="7270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1</a:t>
            </a:r>
            <a:r>
              <a:rPr lang="en-US" dirty="0"/>
              <a:t>0</a:t>
            </a:r>
            <a:r>
              <a:rPr dirty="0"/>
              <a:t>-1</a:t>
            </a:r>
            <a:r>
              <a:rPr lang="en-US" dirty="0"/>
              <a:t>1</a:t>
            </a:r>
            <a:r>
              <a:rPr dirty="0"/>
              <a:t>-</a:t>
            </a:r>
            <a:r>
              <a:rPr spc="-20" dirty="0"/>
              <a:t>202</a:t>
            </a:r>
            <a:r>
              <a:rPr lang="en-US" spc="-20" dirty="0"/>
              <a:t>5</a:t>
            </a: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Review</a:t>
            </a:r>
            <a:r>
              <a:rPr spc="-60" dirty="0"/>
              <a:t> </a:t>
            </a:r>
            <a:r>
              <a:rPr spc="-25" dirty="0"/>
              <a:t>No.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05958" y="6448890"/>
            <a:ext cx="22510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tabLst>
                <a:tab pos="1050290" algn="l"/>
              </a:tabLst>
            </a:pPr>
            <a:r>
              <a:rPr sz="1200" dirty="0">
                <a:solidFill>
                  <a:srgbClr val="878787"/>
                </a:solidFill>
                <a:latin typeface="Times New Roman"/>
                <a:cs typeface="Times New Roman"/>
              </a:rPr>
              <a:t>Batch</a:t>
            </a:r>
            <a:r>
              <a:rPr sz="1200" spc="-75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Times New Roman"/>
                <a:cs typeface="Times New Roman"/>
              </a:rPr>
              <a:t>No.</a:t>
            </a:r>
            <a:r>
              <a:rPr lang="en-US" sz="1200" spc="-10" dirty="0">
                <a:solidFill>
                  <a:srgbClr val="878787"/>
                </a:solidFill>
                <a:latin typeface="Times New Roman"/>
                <a:cs typeface="Times New Roman"/>
              </a:rPr>
              <a:t>CG7</a:t>
            </a:r>
            <a:r>
              <a:rPr sz="1200" dirty="0">
                <a:solidFill>
                  <a:srgbClr val="878787"/>
                </a:solidFill>
                <a:latin typeface="Times New Roman"/>
                <a:cs typeface="Times New Roman"/>
              </a:rPr>
              <a:t>	</a:t>
            </a:r>
            <a:r>
              <a:rPr sz="1200" spc="-20" dirty="0">
                <a:solidFill>
                  <a:srgbClr val="878787"/>
                </a:solidFill>
                <a:latin typeface="Times New Roman"/>
                <a:cs typeface="Times New Roman"/>
              </a:rPr>
              <a:t>Department </a:t>
            </a:r>
            <a:r>
              <a:rPr sz="1200" dirty="0">
                <a:solidFill>
                  <a:srgbClr val="878787"/>
                </a:solidFill>
                <a:latin typeface="Times New Roman"/>
                <a:cs typeface="Times New Roman"/>
              </a:rPr>
              <a:t>of</a:t>
            </a:r>
            <a:r>
              <a:rPr sz="1200" spc="70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78787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99973" y="1090676"/>
            <a:ext cx="11134090" cy="53399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4645" indent="-321945">
              <a:lnSpc>
                <a:spcPct val="100000"/>
              </a:lnSpc>
              <a:spcBef>
                <a:spcPts val="100"/>
              </a:spcBef>
              <a:buAutoNum type="arabicPlain" startAt="9"/>
              <a:tabLst>
                <a:tab pos="334645" algn="l"/>
              </a:tabLst>
            </a:pPr>
            <a:r>
              <a:rPr lang="en-US" b="1" dirty="0"/>
              <a:t>Ghosh et al. (2025):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Presented a multi-stage CKD classifier optimizing eGFR values and validated feature importance using SHAP analysis.</a:t>
            </a:r>
          </a:p>
          <a:p>
            <a:pPr marL="334645" indent="-321945">
              <a:lnSpc>
                <a:spcPct val="100000"/>
              </a:lnSpc>
              <a:spcBef>
                <a:spcPts val="100"/>
              </a:spcBef>
              <a:buAutoNum type="arabicPlain" startAt="9"/>
              <a:tabLst>
                <a:tab pos="334645" algn="l"/>
              </a:tabLst>
            </a:pPr>
            <a:r>
              <a:rPr lang="en-IN" b="1" dirty="0"/>
              <a:t>Jawad et al. (2025):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Explored explainable AI techniques for ensemble models in CKD prediction, improving model transparency.</a:t>
            </a:r>
          </a:p>
          <a:p>
            <a:pPr marL="334645" indent="-321945">
              <a:lnSpc>
                <a:spcPct val="100000"/>
              </a:lnSpc>
              <a:spcBef>
                <a:spcPts val="100"/>
              </a:spcBef>
              <a:buAutoNum type="arabicPlain" startAt="9"/>
              <a:tabLst>
                <a:tab pos="334645" algn="l"/>
              </a:tabLst>
            </a:pPr>
            <a:r>
              <a:rPr lang="en-US" b="1" dirty="0"/>
              <a:t>Popoola et al. (2025):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Applied cluster analysis to handle missing and mixed CKD data in South Africa, enhancing dataset usability.</a:t>
            </a:r>
          </a:p>
          <a:p>
            <a:pPr marL="334645" indent="-321945">
              <a:lnSpc>
                <a:spcPct val="100000"/>
              </a:lnSpc>
              <a:spcBef>
                <a:spcPts val="100"/>
              </a:spcBef>
              <a:buAutoNum type="arabicPlain" startAt="9"/>
              <a:tabLst>
                <a:tab pos="334645" algn="l"/>
              </a:tabLst>
            </a:pPr>
            <a:r>
              <a:rPr lang="en-IN" b="1" dirty="0"/>
              <a:t>Moreno-Sánchez et al. (2025):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Developed a SHAP-validated explainable ensemble AI system for CKD detection, combining interpretability and accuracy.</a:t>
            </a:r>
          </a:p>
          <a:p>
            <a:pPr marL="334645" indent="-321945">
              <a:lnSpc>
                <a:spcPct val="100000"/>
              </a:lnSpc>
              <a:spcBef>
                <a:spcPts val="100"/>
              </a:spcBef>
              <a:buAutoNum type="arabicPlain" startAt="9"/>
              <a:tabLst>
                <a:tab pos="334645" algn="l"/>
              </a:tabLst>
            </a:pPr>
            <a:r>
              <a:rPr lang="en-IN" b="1" dirty="0"/>
              <a:t>Cui et al. (2025):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Implemented U-Net-based kidney volume segmentation for PKD, facilitating precise anatomical measurements.</a:t>
            </a:r>
          </a:p>
          <a:p>
            <a:pPr marL="334645" indent="-321945">
              <a:lnSpc>
                <a:spcPct val="100000"/>
              </a:lnSpc>
              <a:spcBef>
                <a:spcPts val="100"/>
              </a:spcBef>
              <a:buAutoNum type="arabicPlain" startAt="9"/>
              <a:tabLst>
                <a:tab pos="334645" algn="l"/>
              </a:tabLst>
            </a:pPr>
            <a:r>
              <a:rPr lang="en-US" b="1" spc="-20" dirty="0">
                <a:latin typeface="Times New Roman"/>
                <a:cs typeface="Times New Roman"/>
              </a:rPr>
              <a:t>Akter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et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al.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(202</a:t>
            </a:r>
            <a:r>
              <a:rPr lang="en-US" sz="1800" b="1" spc="-10" dirty="0">
                <a:latin typeface="Times New Roman"/>
                <a:cs typeface="Times New Roman"/>
              </a:rPr>
              <a:t>5</a:t>
            </a:r>
            <a:r>
              <a:rPr sz="1800" b="1" spc="-10" dirty="0">
                <a:latin typeface="Times New Roman"/>
                <a:cs typeface="Times New Roman"/>
              </a:rPr>
              <a:t>):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lang="en-US" dirty="0"/>
              <a:t>     Compared deep learning models for CKD risk prediction.</a:t>
            </a:r>
          </a:p>
          <a:p>
            <a:pPr marL="12700">
              <a:lnSpc>
                <a:spcPct val="100000"/>
              </a:lnSpc>
            </a:pPr>
            <a:r>
              <a:rPr lang="en-US" sz="1800" b="1" dirty="0">
                <a:latin typeface="Times New Roman"/>
                <a:cs typeface="Times New Roman"/>
              </a:rPr>
              <a:t>15  </a:t>
            </a:r>
            <a:r>
              <a:rPr lang="en-US" b="1" dirty="0">
                <a:latin typeface="Times New Roman"/>
                <a:cs typeface="Times New Roman"/>
              </a:rPr>
              <a:t>Chabouh et al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(202</a:t>
            </a:r>
            <a:r>
              <a:rPr lang="en-US" sz="1800" b="1" spc="-10" dirty="0">
                <a:latin typeface="Times New Roman"/>
                <a:cs typeface="Times New Roman"/>
              </a:rPr>
              <a:t>5</a:t>
            </a:r>
            <a:r>
              <a:rPr sz="1800" b="1" spc="-10" dirty="0">
                <a:latin typeface="Times New Roman"/>
                <a:cs typeface="Times New Roman"/>
              </a:rPr>
              <a:t>):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dirty="0">
                <a:latin typeface="Times New Roman"/>
                <a:cs typeface="Times New Roman"/>
              </a:rPr>
              <a:t>      </a:t>
            </a:r>
            <a:r>
              <a:rPr lang="en-US" dirty="0"/>
              <a:t>Used ultrasound microscopy for high-resolution kidney imaging.</a:t>
            </a: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7126" y="689305"/>
            <a:ext cx="7168515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QUESTIONS</a:t>
            </a:r>
            <a:r>
              <a:rPr spc="-150" dirty="0"/>
              <a:t> </a:t>
            </a:r>
            <a:r>
              <a:rPr spc="-45" dirty="0"/>
              <a:t>and</a:t>
            </a:r>
            <a:r>
              <a:rPr spc="-285" dirty="0"/>
              <a:t> </a:t>
            </a:r>
            <a:r>
              <a:rPr spc="-10" dirty="0"/>
              <a:t>ANSWERS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7244" y="6448890"/>
            <a:ext cx="91155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spc="-20" dirty="0">
                <a:solidFill>
                  <a:srgbClr val="878787"/>
                </a:solidFill>
                <a:latin typeface="Times New Roman"/>
                <a:cs typeface="Times New Roman"/>
              </a:rPr>
              <a:t>10-11-2025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Review</a:t>
            </a:r>
            <a:r>
              <a:rPr spc="-60" dirty="0"/>
              <a:t> </a:t>
            </a:r>
            <a:r>
              <a:rPr spc="-25" dirty="0"/>
              <a:t>No.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05958" y="6448890"/>
            <a:ext cx="22510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tabLst>
                <a:tab pos="1050290" algn="l"/>
              </a:tabLst>
            </a:pPr>
            <a:r>
              <a:rPr sz="1200" dirty="0">
                <a:solidFill>
                  <a:srgbClr val="878787"/>
                </a:solidFill>
                <a:latin typeface="Times New Roman"/>
                <a:cs typeface="Times New Roman"/>
              </a:rPr>
              <a:t>Batch</a:t>
            </a:r>
            <a:r>
              <a:rPr sz="1200" spc="-75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Times New Roman"/>
                <a:cs typeface="Times New Roman"/>
              </a:rPr>
              <a:t>No.</a:t>
            </a:r>
            <a:r>
              <a:rPr lang="en-US" sz="1200" spc="-10" dirty="0">
                <a:solidFill>
                  <a:srgbClr val="878787"/>
                </a:solidFill>
                <a:latin typeface="Times New Roman"/>
                <a:cs typeface="Times New Roman"/>
              </a:rPr>
              <a:t>CG7</a:t>
            </a:r>
            <a:r>
              <a:rPr sz="1200" dirty="0">
                <a:solidFill>
                  <a:srgbClr val="878787"/>
                </a:solidFill>
                <a:latin typeface="Times New Roman"/>
                <a:cs typeface="Times New Roman"/>
              </a:rPr>
              <a:t>	</a:t>
            </a:r>
            <a:r>
              <a:rPr sz="1200" spc="-20" dirty="0">
                <a:solidFill>
                  <a:srgbClr val="878787"/>
                </a:solidFill>
                <a:latin typeface="Times New Roman"/>
                <a:cs typeface="Times New Roman"/>
              </a:rPr>
              <a:t>Department </a:t>
            </a:r>
            <a:r>
              <a:rPr sz="1200" dirty="0">
                <a:solidFill>
                  <a:srgbClr val="878787"/>
                </a:solidFill>
                <a:latin typeface="Times New Roman"/>
                <a:cs typeface="Times New Roman"/>
              </a:rPr>
              <a:t>of</a:t>
            </a:r>
            <a:r>
              <a:rPr sz="1200" spc="70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78787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481455" y="1803019"/>
            <a:ext cx="9378950" cy="24391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48945" algn="ctr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Times New Roman"/>
                <a:cs typeface="Times New Roman"/>
              </a:rPr>
              <a:t>Thank</a:t>
            </a:r>
            <a:r>
              <a:rPr sz="3600" b="1" spc="-5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You!</a:t>
            </a:r>
            <a:r>
              <a:rPr sz="3600" b="1" spc="-30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From</a:t>
            </a:r>
            <a:r>
              <a:rPr sz="3600" b="1" spc="-55" dirty="0">
                <a:latin typeface="Times New Roman"/>
                <a:cs typeface="Times New Roman"/>
              </a:rPr>
              <a:t> </a:t>
            </a:r>
            <a:r>
              <a:rPr lang="en-US" sz="36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CG7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4445" algn="ctr">
              <a:lnSpc>
                <a:spcPct val="100000"/>
              </a:lnSpc>
              <a:spcBef>
                <a:spcPts val="5"/>
              </a:spcBef>
            </a:pPr>
            <a:r>
              <a:rPr sz="2800" b="1" dirty="0">
                <a:latin typeface="Times New Roman"/>
                <a:cs typeface="Times New Roman"/>
              </a:rPr>
              <a:t>We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appreciate</a:t>
            </a:r>
            <a:r>
              <a:rPr sz="2800" b="1" spc="-7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your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attention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and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interest.</a:t>
            </a:r>
            <a:endParaRPr sz="28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Now,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we’d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like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open the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floor</a:t>
            </a:r>
            <a:r>
              <a:rPr sz="2800" b="1" spc="-7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for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questions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and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discussions.</a:t>
            </a:r>
            <a:endParaRPr sz="28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800" dirty="0">
                <a:latin typeface="Segoe UI Symbol"/>
                <a:cs typeface="Segoe UI Symbol"/>
              </a:rPr>
              <a:t>💬</a:t>
            </a:r>
            <a:r>
              <a:rPr sz="2800" spc="-80" dirty="0">
                <a:latin typeface="Segoe UI Symbol"/>
                <a:cs typeface="Segoe UI Symbol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Feel</a:t>
            </a:r>
            <a:r>
              <a:rPr sz="2800" i="1" spc="-1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free</a:t>
            </a:r>
            <a:r>
              <a:rPr sz="2800" i="1" spc="-4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to</a:t>
            </a:r>
            <a:r>
              <a:rPr sz="2800" i="1" spc="-4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ask</a:t>
            </a:r>
            <a:r>
              <a:rPr sz="2800" i="1" spc="-2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about</a:t>
            </a:r>
            <a:r>
              <a:rPr sz="2800" i="1" spc="-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the</a:t>
            </a:r>
            <a:r>
              <a:rPr sz="2800" i="1" spc="-8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model,</a:t>
            </a:r>
            <a:r>
              <a:rPr sz="2800" i="1" spc="-5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dataset,</a:t>
            </a:r>
            <a:r>
              <a:rPr sz="2800" i="1" spc="-8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or</a:t>
            </a:r>
            <a:r>
              <a:rPr sz="2800" i="1" spc="-2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future</a:t>
            </a:r>
            <a:r>
              <a:rPr sz="2800" i="1" spc="-70" dirty="0">
                <a:latin typeface="Times New Roman"/>
                <a:cs typeface="Times New Roman"/>
              </a:rPr>
              <a:t> </a:t>
            </a:r>
            <a:r>
              <a:rPr sz="2800" i="1" spc="-10" dirty="0">
                <a:latin typeface="Times New Roman"/>
                <a:cs typeface="Times New Roman"/>
              </a:rPr>
              <a:t>work!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86889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ACKNOWLEGEMENTS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244" y="6448890"/>
            <a:ext cx="7270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1</a:t>
            </a:r>
            <a:r>
              <a:rPr lang="en-US" dirty="0"/>
              <a:t>0</a:t>
            </a:r>
            <a:r>
              <a:rPr dirty="0"/>
              <a:t>-1</a:t>
            </a:r>
            <a:r>
              <a:rPr lang="en-US" dirty="0"/>
              <a:t>1</a:t>
            </a:r>
            <a:r>
              <a:rPr dirty="0"/>
              <a:t>-</a:t>
            </a:r>
            <a:r>
              <a:rPr spc="-20" dirty="0"/>
              <a:t>202</a:t>
            </a:r>
            <a:r>
              <a:rPr lang="en-US" spc="-20" dirty="0"/>
              <a:t>5</a:t>
            </a: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Review</a:t>
            </a:r>
            <a:r>
              <a:rPr spc="-60" dirty="0"/>
              <a:t> </a:t>
            </a:r>
            <a:r>
              <a:rPr spc="-25" dirty="0"/>
              <a:t>No.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05958" y="6448890"/>
            <a:ext cx="89484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78787"/>
                </a:solidFill>
                <a:latin typeface="Times New Roman"/>
                <a:cs typeface="Times New Roman"/>
              </a:rPr>
              <a:t>Batch</a:t>
            </a:r>
            <a:r>
              <a:rPr sz="1200" spc="-75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78787"/>
                </a:solidFill>
                <a:latin typeface="Times New Roman"/>
                <a:cs typeface="Times New Roman"/>
              </a:rPr>
              <a:t>No.</a:t>
            </a:r>
            <a:r>
              <a:rPr lang="en-US" sz="1200" spc="-25" dirty="0">
                <a:solidFill>
                  <a:srgbClr val="878787"/>
                </a:solidFill>
                <a:latin typeface="Times New Roman"/>
                <a:cs typeface="Times New Roman"/>
              </a:rPr>
              <a:t>CG7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44182" y="6448890"/>
            <a:ext cx="121285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0" dirty="0">
                <a:solidFill>
                  <a:srgbClr val="878787"/>
                </a:solidFill>
                <a:latin typeface="Times New Roman"/>
                <a:cs typeface="Times New Roman"/>
              </a:rPr>
              <a:t>Department </a:t>
            </a:r>
            <a:r>
              <a:rPr sz="1200" dirty="0">
                <a:solidFill>
                  <a:srgbClr val="878787"/>
                </a:solidFill>
                <a:latin typeface="Times New Roman"/>
                <a:cs typeface="Times New Roman"/>
              </a:rPr>
              <a:t>of</a:t>
            </a:r>
            <a:r>
              <a:rPr sz="1200" spc="70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78787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73404" y="1561592"/>
            <a:ext cx="10556240" cy="422872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dirty="0">
                <a:latin typeface="Times New Roman"/>
                <a:cs typeface="Times New Roman"/>
              </a:rPr>
              <a:t>Thank</a:t>
            </a:r>
            <a:r>
              <a:rPr sz="2500" b="1" spc="-50" dirty="0">
                <a:latin typeface="Times New Roman"/>
                <a:cs typeface="Times New Roman"/>
              </a:rPr>
              <a:t> </a:t>
            </a:r>
            <a:r>
              <a:rPr sz="2500" b="1" spc="-20" dirty="0">
                <a:latin typeface="Times New Roman"/>
                <a:cs typeface="Times New Roman"/>
              </a:rPr>
              <a:t>You!</a:t>
            </a:r>
            <a:endParaRPr sz="2500" dirty="0">
              <a:latin typeface="Times New Roman"/>
              <a:cs typeface="Times New Roman"/>
            </a:endParaRPr>
          </a:p>
          <a:p>
            <a:pPr marL="12700" marR="761365">
              <a:lnSpc>
                <a:spcPct val="100000"/>
              </a:lnSpc>
            </a:pPr>
            <a:r>
              <a:rPr sz="2500" dirty="0">
                <a:latin typeface="Times New Roman"/>
                <a:cs typeface="Times New Roman"/>
              </a:rPr>
              <a:t>We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sincerely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thank</a:t>
            </a:r>
            <a:r>
              <a:rPr sz="2500" b="1" spc="-7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the</a:t>
            </a:r>
            <a:r>
              <a:rPr sz="2500" b="1" spc="-5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organizers,</a:t>
            </a:r>
            <a:r>
              <a:rPr sz="2500" b="1" spc="-2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faculty,</a:t>
            </a:r>
            <a:r>
              <a:rPr sz="2500" b="1" spc="-6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and</a:t>
            </a:r>
            <a:r>
              <a:rPr sz="2500" b="1" spc="-6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audience</a:t>
            </a:r>
            <a:r>
              <a:rPr sz="2500" b="1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for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giving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us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imes New Roman"/>
                <a:cs typeface="Times New Roman"/>
              </a:rPr>
              <a:t>the </a:t>
            </a:r>
            <a:r>
              <a:rPr sz="2500" dirty="0">
                <a:latin typeface="Times New Roman"/>
                <a:cs typeface="Times New Roman"/>
              </a:rPr>
              <a:t>opportunity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to</a:t>
            </a:r>
            <a:r>
              <a:rPr sz="2500" spc="-7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present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our</a:t>
            </a:r>
            <a:r>
              <a:rPr sz="2500" spc="-7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project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-50" dirty="0">
                <a:latin typeface="Times New Roman"/>
                <a:cs typeface="Times New Roman"/>
              </a:rPr>
              <a:t>—</a:t>
            </a:r>
            <a:endParaRPr sz="25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500" b="1" dirty="0">
                <a:latin typeface="Times New Roman"/>
                <a:cs typeface="Times New Roman"/>
              </a:rPr>
              <a:t>“</a:t>
            </a:r>
            <a:r>
              <a:rPr lang="en-US" sz="2600" b="1" dirty="0"/>
              <a:t>Echoes of the Hidden Filter: Interpretable Ensemble Intelligence for Early CKD Prognosis</a:t>
            </a:r>
            <a:r>
              <a:rPr sz="2600" b="1" spc="-10" dirty="0">
                <a:latin typeface="Times New Roman"/>
                <a:cs typeface="Times New Roman"/>
              </a:rPr>
              <a:t>.”</a:t>
            </a:r>
            <a:endParaRPr sz="2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500" dirty="0">
                <a:latin typeface="Times New Roman"/>
                <a:cs typeface="Times New Roman"/>
              </a:rPr>
              <a:t>Your</a:t>
            </a:r>
            <a:r>
              <a:rPr sz="2500" spc="-8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attention,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feedback,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and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questions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are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truly</a:t>
            </a:r>
            <a:r>
              <a:rPr sz="2500" spc="-8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appreciated.</a:t>
            </a:r>
            <a:endParaRPr sz="25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500" dirty="0">
                <a:latin typeface="Times New Roman"/>
                <a:cs typeface="Times New Roman"/>
              </a:rPr>
              <a:t>For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any</a:t>
            </a:r>
            <a:r>
              <a:rPr sz="2500" spc="-7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further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discussions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or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collaboration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inquiries,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feel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free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to</a:t>
            </a:r>
            <a:r>
              <a:rPr sz="2500" spc="-7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contact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imes New Roman"/>
                <a:cs typeface="Times New Roman"/>
              </a:rPr>
              <a:t>us:</a:t>
            </a:r>
            <a:endParaRPr sz="2500" dirty="0">
              <a:latin typeface="Times New Roman"/>
              <a:cs typeface="Times New Roman"/>
            </a:endParaRPr>
          </a:p>
          <a:p>
            <a:pPr marL="742315" algn="ctr">
              <a:lnSpc>
                <a:spcPct val="100000"/>
              </a:lnSpc>
            </a:pPr>
            <a:r>
              <a:rPr sz="2500" dirty="0">
                <a:latin typeface="Segoe UI Symbol"/>
                <a:cs typeface="Segoe UI Symbol"/>
              </a:rPr>
              <a:t>📧</a:t>
            </a:r>
            <a:r>
              <a:rPr sz="2500" spc="-120" dirty="0">
                <a:latin typeface="Segoe UI Symbol"/>
                <a:cs typeface="Segoe UI Symbol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Contact</a:t>
            </a:r>
            <a:r>
              <a:rPr sz="2500" b="1" spc="-60" dirty="0">
                <a:latin typeface="Times New Roman"/>
                <a:cs typeface="Times New Roman"/>
              </a:rPr>
              <a:t> </a:t>
            </a:r>
            <a:r>
              <a:rPr sz="2500" b="1" spc="-10" dirty="0">
                <a:latin typeface="Times New Roman"/>
                <a:cs typeface="Times New Roman"/>
              </a:rPr>
              <a:t>Information</a:t>
            </a:r>
            <a:endParaRPr lang="en-US" sz="2500" spc="-10" dirty="0">
              <a:latin typeface="Times New Roman"/>
              <a:cs typeface="Times New Roman"/>
            </a:endParaRPr>
          </a:p>
          <a:p>
            <a:pPr marL="742315" algn="ctr">
              <a:lnSpc>
                <a:spcPct val="100000"/>
              </a:lnSpc>
            </a:pPr>
            <a:r>
              <a:rPr sz="2400" b="1" dirty="0">
                <a:latin typeface="Times New Roman"/>
                <a:cs typeface="Times New Roman"/>
              </a:rPr>
              <a:t>S</a:t>
            </a:r>
            <a:r>
              <a:rPr lang="en-US" sz="2400" b="1" dirty="0">
                <a:latin typeface="Times New Roman"/>
                <a:cs typeface="Times New Roman"/>
              </a:rPr>
              <a:t>ura Venkata Siva Naga Lakshmi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lang="en-US" sz="24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suravenkatasivanagalakshmi</a:t>
            </a:r>
            <a:r>
              <a:rPr sz="24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2"/>
              </a:rPr>
              <a:t>@gmail.com</a:t>
            </a:r>
            <a:r>
              <a:rPr sz="2400" spc="-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endParaRPr lang="en-US" sz="2400" spc="-10" dirty="0">
              <a:solidFill>
                <a:srgbClr val="0000FF"/>
              </a:solidFill>
              <a:latin typeface="Times New Roman"/>
              <a:cs typeface="Times New Roman"/>
            </a:endParaRPr>
          </a:p>
          <a:p>
            <a:pPr marL="742315" algn="ctr">
              <a:lnSpc>
                <a:spcPct val="100000"/>
              </a:lnSpc>
            </a:pPr>
            <a:r>
              <a:rPr lang="en-US" sz="2400" b="1" spc="-25" dirty="0">
                <a:latin typeface="Times New Roman"/>
                <a:cs typeface="Times New Roman"/>
              </a:rPr>
              <a:t>Kolli Kaveri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lang="en-US" sz="24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kaverikolli</a:t>
            </a:r>
            <a:r>
              <a:rPr lang="en-US" sz="24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3"/>
              </a:rPr>
              <a:t>6</a:t>
            </a:r>
            <a:r>
              <a:rPr sz="24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3"/>
              </a:rPr>
              <a:t>9</a:t>
            </a:r>
            <a:r>
              <a:rPr lang="en-IN" sz="24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3"/>
              </a:rPr>
              <a:t>@</a:t>
            </a:r>
            <a:r>
              <a:rPr sz="24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3"/>
              </a:rPr>
              <a:t>gmail.com</a:t>
            </a:r>
            <a:r>
              <a:rPr sz="2400" spc="-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endParaRPr lang="en-US" sz="2400" spc="-10" dirty="0">
              <a:solidFill>
                <a:srgbClr val="0000FF"/>
              </a:solidFill>
              <a:latin typeface="Times New Roman"/>
              <a:cs typeface="Times New Roman"/>
            </a:endParaRPr>
          </a:p>
          <a:p>
            <a:pPr marL="742315" algn="ctr">
              <a:lnSpc>
                <a:spcPct val="100000"/>
              </a:lnSpc>
            </a:pPr>
            <a:r>
              <a:rPr lang="en-US" sz="2400" b="1" spc="-5" dirty="0">
                <a:latin typeface="Times New Roman"/>
                <a:cs typeface="Times New Roman"/>
              </a:rPr>
              <a:t>Konda Pratyusha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lang="en-US" sz="24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pratyushakonda626</a:t>
            </a:r>
            <a:r>
              <a:rPr sz="24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4"/>
              </a:rPr>
              <a:t>@gmail.com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23544</TotalTime>
  <Words>1857</Words>
  <Application>Microsoft Office PowerPoint</Application>
  <PresentationFormat>Widescreen</PresentationFormat>
  <Paragraphs>355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Arial MT</vt:lpstr>
      <vt:lpstr>Segoe UI Symbol</vt:lpstr>
      <vt:lpstr>Tahoma</vt:lpstr>
      <vt:lpstr>Times New Roman</vt:lpstr>
      <vt:lpstr>Office Theme</vt:lpstr>
      <vt:lpstr>Department of Computer Science and Engineering ECHOES OF THE HIDDEN FILTER: INTERPRETABLE ENSEMBLE INTELLIGENCE FOR EARLY CKD PROGNOSIS</vt:lpstr>
      <vt:lpstr>OUTLINE</vt:lpstr>
      <vt:lpstr>ABSTRACT</vt:lpstr>
      <vt:lpstr>INTRODUCTION</vt:lpstr>
      <vt:lpstr>LITERATURE SURVEY</vt:lpstr>
      <vt:lpstr>RESEARCH GAPS</vt:lpstr>
      <vt:lpstr>PROBLEM STATEMENT</vt:lpstr>
      <vt:lpstr>OBJECTIVES</vt:lpstr>
      <vt:lpstr>BLOCK DIAGRAM OR FLOW DIAGRAM</vt:lpstr>
      <vt:lpstr>METHODOLOGY</vt:lpstr>
      <vt:lpstr>IMPLEMENTATION</vt:lpstr>
      <vt:lpstr>RESULTS &amp; ANALYSIS</vt:lpstr>
      <vt:lpstr>RESULTS &amp; ANALYSIS</vt:lpstr>
      <vt:lpstr>RESULTS &amp; ANALYSIS</vt:lpstr>
      <vt:lpstr>CONCLUSION and FUTURE SCOPE</vt:lpstr>
      <vt:lpstr>CONCLUSION and FUTURE SCOPE</vt:lpstr>
      <vt:lpstr>REFERENCES</vt:lpstr>
      <vt:lpstr>REFERENCES</vt:lpstr>
      <vt:lpstr>QUESTIONS and ANSWERS</vt:lpstr>
      <vt:lpstr>ACKNOWLEGEMENTS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Computer Science and Engineering ECHOES OF THE HIDDEN FILTER: INTERPRETABLE ENSEMBLE INTELLIGENCE FOR EARLY CKD PROGNOSIS</dc:title>
  <dc:creator>Naga lakshmi sura</dc:creator>
  <cp:lastModifiedBy>Admin</cp:lastModifiedBy>
  <cp:revision>3</cp:revision>
  <dcterms:created xsi:type="dcterms:W3CDTF">2025-11-07T12:23:20Z</dcterms:created>
  <dcterms:modified xsi:type="dcterms:W3CDTF">2025-11-10T06:04:21Z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2025-11-07T00:00:00Z</vt:filetime>
  </property>
  <property fmtid="{D5CDD505-2E9C-101B-9397-08002B2CF9AE}" pid="5" name="Producer">
    <vt:lpwstr>www.ilovepdf.com</vt:lpwstr>
  </property>
</Properties>
</file>